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75599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11730" y="641350"/>
            <a:ext cx="2736849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2" b="1" sz="2000">
                <a:solidFill>
                  <a:srgbClr val="000000"/>
                </a:solidFill>
                <a:latin typeface="Roboto"/>
              </a:rPr>
              <a:t>JAVA PROGRAMMING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0400" y="1174750"/>
            <a:ext cx="623824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6" b="1" sz="2000">
                <a:solidFill>
                  <a:srgbClr val="000000"/>
                </a:solidFill>
                <a:latin typeface="Roboto"/>
              </a:rPr>
              <a:t>Assignment 2: Implementation of Inheritance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1680210"/>
            <a:ext cx="440182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6" b="1" sz="1050">
                <a:solidFill>
                  <a:srgbClr val="000000"/>
                </a:solidFill>
                <a:latin typeface="Roboto"/>
              </a:rPr>
              <a:t>Contents:</a:t>
            </a:r>
            <a:r>
              <a:rPr spc="3" sz="1050">
                <a:solidFill>
                  <a:srgbClr val="000000"/>
                </a:solidFill>
                <a:latin typeface="Roboto"/>
              </a:rPr>
              <a:t> Algorithm, Steps/Code Flow, Java Program and Sample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162810"/>
            <a:ext cx="111125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5" b="1" sz="1500">
                <a:solidFill>
                  <a:srgbClr val="000000"/>
                </a:solidFill>
                <a:latin typeface="Roboto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2493010"/>
            <a:ext cx="626999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050">
                <a:solidFill>
                  <a:srgbClr val="000000"/>
                </a:solidFill>
                <a:latin typeface="Roboto"/>
              </a:rPr>
              <a:t>Inheritance is an important feature of Object-Oriented Programming (OOP). It allows a class or interface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2683510"/>
            <a:ext cx="597408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000000"/>
                </a:solidFill>
                <a:latin typeface="Roboto"/>
              </a:rPr>
              <a:t>acquire features from another class or interface. In Java, a class can extend only one class, but it can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2874010"/>
            <a:ext cx="435102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" sz="1050">
                <a:solidFill>
                  <a:srgbClr val="000000"/>
                </a:solidFill>
                <a:latin typeface="Roboto"/>
              </a:rPr>
              <a:t>implement multiple interfaces. An interface can extend multiple interfaces.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4200" y="626110"/>
            <a:ext cx="346202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8" b="1" sz="1500">
                <a:solidFill>
                  <a:srgbClr val="000000"/>
                </a:solidFill>
                <a:latin typeface="Roboto"/>
              </a:rPr>
              <a:t>1. Single Inheritance — C1 extends C2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4200" y="1012190"/>
            <a:ext cx="13119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7" b="1" sz="1200">
                <a:solidFill>
                  <a:srgbClr val="000000"/>
                </a:solidFill>
                <a:latin typeface="Roboto"/>
              </a:rPr>
              <a:t>Algorithm / Steps: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1273810"/>
            <a:ext cx="6007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" sz="1050">
                <a:solidFill>
                  <a:srgbClr val="000000"/>
                </a:solidFill>
                <a:latin typeface="Roboto"/>
              </a:rPr>
              <a:t>Algorithm: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1540510"/>
            <a:ext cx="12230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000000"/>
                </a:solidFill>
                <a:latin typeface="Roboto"/>
              </a:rPr>
              <a:t>1. Start the program.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1807210"/>
            <a:ext cx="253492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050">
                <a:solidFill>
                  <a:srgbClr val="000000"/>
                </a:solidFill>
                <a:latin typeface="Roboto"/>
              </a:rPr>
              <a:t>2. Create parent class C2 with displayC2().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2073910"/>
            <a:ext cx="251206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" sz="1050">
                <a:solidFill>
                  <a:srgbClr val="000000"/>
                </a:solidFill>
                <a:latin typeface="Roboto"/>
              </a:rPr>
              <a:t>3. Create child class C1 using extends C2.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2340610"/>
            <a:ext cx="148208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" sz="1050">
                <a:solidFill>
                  <a:srgbClr val="000000"/>
                </a:solidFill>
                <a:latin typeface="Roboto"/>
              </a:rPr>
              <a:t>4. Add displayC1() in C1.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2607310"/>
            <a:ext cx="207518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1050">
                <a:solidFill>
                  <a:srgbClr val="000000"/>
                </a:solidFill>
                <a:latin typeface="Roboto"/>
              </a:rPr>
              <a:t>5. Create an object of C1 in main().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2874010"/>
            <a:ext cx="23050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000000"/>
                </a:solidFill>
                <a:latin typeface="Roboto"/>
              </a:rPr>
              <a:t>6. Call the inherited and child methods.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3140710"/>
            <a:ext cx="120777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1050">
                <a:solidFill>
                  <a:srgbClr val="000000"/>
                </a:solidFill>
                <a:latin typeface="Roboto"/>
              </a:rPr>
              <a:t>7. Display the result.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3407410"/>
            <a:ext cx="45974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1050">
                <a:solidFill>
                  <a:srgbClr val="000000"/>
                </a:solidFill>
                <a:latin typeface="Roboto"/>
              </a:rPr>
              <a:t>8. Stop.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3755390"/>
            <a:ext cx="8128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1200">
                <a:solidFill>
                  <a:srgbClr val="000000"/>
                </a:solidFill>
                <a:latin typeface="Roboto"/>
              </a:rPr>
              <a:t>Java Code: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14470"/>
            <a:ext cx="62484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0" sz="800">
                <a:solidFill>
                  <a:srgbClr val="000000"/>
                </a:solidFill>
                <a:latin typeface="Roboto"/>
              </a:rPr>
              <a:t>class C2 {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760" y="4147820"/>
            <a:ext cx="118618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5" sz="800">
                <a:solidFill>
                  <a:srgbClr val="000000"/>
                </a:solidFill>
                <a:latin typeface="Roboto"/>
              </a:rPr>
              <a:t> void displayC2() {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2680" y="4281170"/>
            <a:ext cx="293751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8" sz="800">
                <a:solidFill>
                  <a:srgbClr val="000000"/>
                </a:solidFill>
                <a:latin typeface="Roboto"/>
              </a:rPr>
              <a:t> System.out.println("This is Parent Class C2");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760" y="4414520"/>
            <a:ext cx="12445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55" sz="800">
                <a:solidFill>
                  <a:srgbClr val="000000"/>
                </a:solidFill>
                <a:latin typeface="Roboto"/>
              </a:rPr>
              <a:t> 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547870"/>
            <a:ext cx="6222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19" sz="800">
                <a:solidFill>
                  <a:srgbClr val="000000"/>
                </a:solidFill>
                <a:latin typeface="Roboto"/>
              </a:rPr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14570"/>
            <a:ext cx="131191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5" sz="800">
                <a:solidFill>
                  <a:srgbClr val="000000"/>
                </a:solidFill>
                <a:latin typeface="Roboto"/>
              </a:rPr>
              <a:t>class C1 extends C2 {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760" y="4947920"/>
            <a:ext cx="118618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5" sz="800">
                <a:solidFill>
                  <a:srgbClr val="000000"/>
                </a:solidFill>
                <a:latin typeface="Roboto"/>
              </a:rPr>
              <a:t> void displayC1() {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2680" y="5081270"/>
            <a:ext cx="287528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3" sz="800">
                <a:solidFill>
                  <a:srgbClr val="000000"/>
                </a:solidFill>
                <a:latin typeface="Roboto"/>
              </a:rPr>
              <a:t> System.out.println("This is Child Class C1");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760" y="5214620"/>
            <a:ext cx="12445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55" sz="800">
                <a:solidFill>
                  <a:srgbClr val="000000"/>
                </a:solidFill>
                <a:latin typeface="Roboto"/>
              </a:rPr>
              <a:t> 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47970"/>
            <a:ext cx="6222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19" sz="800">
                <a:solidFill>
                  <a:srgbClr val="000000"/>
                </a:solidFill>
                <a:latin typeface="Roboto"/>
              </a:rPr>
              <a:t>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614670"/>
            <a:ext cx="118745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1" sz="800">
                <a:solidFill>
                  <a:srgbClr val="000000"/>
                </a:solidFill>
                <a:latin typeface="Roboto"/>
              </a:rPr>
              <a:t>public class Main {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760" y="5748020"/>
            <a:ext cx="256159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2" sz="800">
                <a:solidFill>
                  <a:srgbClr val="000000"/>
                </a:solidFill>
                <a:latin typeface="Roboto"/>
              </a:rPr>
              <a:t> public static void main(String[] args) {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2680" y="5881370"/>
            <a:ext cx="118745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1" sz="800">
                <a:solidFill>
                  <a:srgbClr val="000000"/>
                </a:solidFill>
                <a:latin typeface="Roboto"/>
              </a:rPr>
              <a:t> C1 obj = new C1();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2680" y="6014720"/>
            <a:ext cx="106298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6" sz="800">
                <a:solidFill>
                  <a:srgbClr val="000000"/>
                </a:solidFill>
                <a:latin typeface="Roboto"/>
              </a:rPr>
              <a:t> obj.displayC2();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2680" y="6148070"/>
            <a:ext cx="106298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6" sz="800">
                <a:solidFill>
                  <a:srgbClr val="000000"/>
                </a:solidFill>
                <a:latin typeface="Roboto"/>
              </a:rPr>
              <a:t> obj.displayC1();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760" y="6281420"/>
            <a:ext cx="12445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55" sz="800">
                <a:solidFill>
                  <a:srgbClr val="000000"/>
                </a:solidFill>
                <a:latin typeface="Roboto"/>
              </a:rPr>
              <a:t> 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414770"/>
            <a:ext cx="6222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19" sz="800">
                <a:solidFill>
                  <a:srgbClr val="000000"/>
                </a:solidFill>
                <a:latin typeface="Roboto"/>
              </a:rPr>
              <a:t>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6708140"/>
            <a:ext cx="11341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1" b="1" sz="1200">
                <a:solidFill>
                  <a:srgbClr val="000000"/>
                </a:solidFill>
                <a:latin typeface="Roboto"/>
              </a:rPr>
              <a:t>Sample Output: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967220"/>
            <a:ext cx="43688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0" sz="800">
                <a:solidFill>
                  <a:srgbClr val="000000"/>
                </a:solidFill>
                <a:latin typeface="Roboto"/>
              </a:rPr>
              <a:t>Output: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7100570"/>
            <a:ext cx="143763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5" sz="800">
                <a:solidFill>
                  <a:srgbClr val="000000"/>
                </a:solidFill>
                <a:latin typeface="Roboto"/>
              </a:rPr>
              <a:t>This is Parent Class C2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7233920"/>
            <a:ext cx="137413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2" sz="800">
                <a:solidFill>
                  <a:srgbClr val="000000"/>
                </a:solidFill>
                <a:latin typeface="Roboto"/>
              </a:rPr>
              <a:t>This is Child Class C1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4200" y="626110"/>
            <a:ext cx="413385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5" b="1" sz="1500">
                <a:solidFill>
                  <a:srgbClr val="000000"/>
                </a:solidFill>
                <a:latin typeface="Roboto"/>
              </a:rPr>
              <a:t>2. Multiple Inheritance using Class +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4200" y="1012190"/>
            <a:ext cx="13119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7" b="1" sz="1200">
                <a:solidFill>
                  <a:srgbClr val="000000"/>
                </a:solidFill>
                <a:latin typeface="Roboto"/>
              </a:rPr>
              <a:t>Algorithm / Steps: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1273810"/>
            <a:ext cx="6007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" sz="1050">
                <a:solidFill>
                  <a:srgbClr val="000000"/>
                </a:solidFill>
                <a:latin typeface="Roboto"/>
              </a:rPr>
              <a:t>Algorithm: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1540510"/>
            <a:ext cx="12230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000000"/>
                </a:solidFill>
                <a:latin typeface="Roboto"/>
              </a:rPr>
              <a:t>1. Start the program.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1807210"/>
            <a:ext cx="200152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1050">
                <a:solidFill>
                  <a:srgbClr val="000000"/>
                </a:solidFill>
                <a:latin typeface="Roboto"/>
              </a:rPr>
              <a:t>2. Create class C2 with a method.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2073910"/>
            <a:ext cx="289814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000000"/>
                </a:solidFill>
                <a:latin typeface="Roboto"/>
              </a:rPr>
              <a:t>3. Create interface C3 with a method declaration.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2340610"/>
            <a:ext cx="29502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" sz="1050">
                <a:solidFill>
                  <a:srgbClr val="000000"/>
                </a:solidFill>
                <a:latin typeface="Roboto"/>
              </a:rPr>
              <a:t>4. Create C1 that extends C2 and implements C3.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2607310"/>
            <a:ext cx="217170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1050">
                <a:solidFill>
                  <a:srgbClr val="000000"/>
                </a:solidFill>
                <a:latin typeface="Roboto"/>
              </a:rPr>
              <a:t>5. Define the interface method in C1.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2874010"/>
            <a:ext cx="151892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" sz="1050">
                <a:solidFill>
                  <a:srgbClr val="000000"/>
                </a:solidFill>
                <a:latin typeface="Roboto"/>
              </a:rPr>
              <a:t>6. Create an object of C1.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3140710"/>
            <a:ext cx="218567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" sz="1050">
                <a:solidFill>
                  <a:srgbClr val="000000"/>
                </a:solidFill>
                <a:latin typeface="Roboto"/>
              </a:rPr>
              <a:t>7. Call methods from C2, C3 and C1.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3407410"/>
            <a:ext cx="17564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050">
                <a:solidFill>
                  <a:srgbClr val="000000"/>
                </a:solidFill>
                <a:latin typeface="Roboto"/>
              </a:rPr>
              <a:t>8. Display the result and stop.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3755390"/>
            <a:ext cx="8128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1200">
                <a:solidFill>
                  <a:srgbClr val="000000"/>
                </a:solidFill>
                <a:latin typeface="Roboto"/>
              </a:rPr>
              <a:t>Java Code: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14470"/>
            <a:ext cx="62484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0" sz="800">
                <a:solidFill>
                  <a:srgbClr val="000000"/>
                </a:solidFill>
                <a:latin typeface="Roboto"/>
              </a:rPr>
              <a:t>class C2 {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760" y="4147820"/>
            <a:ext cx="118618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5" sz="800">
                <a:solidFill>
                  <a:srgbClr val="000000"/>
                </a:solidFill>
                <a:latin typeface="Roboto"/>
              </a:rPr>
              <a:t> void displayC2() {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2680" y="4281170"/>
            <a:ext cx="200025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6" sz="800">
                <a:solidFill>
                  <a:srgbClr val="000000"/>
                </a:solidFill>
                <a:latin typeface="Roboto"/>
              </a:rPr>
              <a:t> System.out.println("Class C2");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760" y="4414520"/>
            <a:ext cx="12445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55" sz="800">
                <a:solidFill>
                  <a:srgbClr val="000000"/>
                </a:solidFill>
                <a:latin typeface="Roboto"/>
              </a:rPr>
              <a:t> 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547870"/>
            <a:ext cx="6222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19" sz="800">
                <a:solidFill>
                  <a:srgbClr val="000000"/>
                </a:solidFill>
                <a:latin typeface="Roboto"/>
              </a:rPr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14570"/>
            <a:ext cx="87503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0" sz="800">
                <a:solidFill>
                  <a:srgbClr val="000000"/>
                </a:solidFill>
                <a:latin typeface="Roboto"/>
              </a:rPr>
              <a:t>interface C3 {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760" y="4947920"/>
            <a:ext cx="112395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3" sz="800">
                <a:solidFill>
                  <a:srgbClr val="000000"/>
                </a:solidFill>
                <a:latin typeface="Roboto"/>
              </a:rPr>
              <a:t> void displayC3();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081270"/>
            <a:ext cx="6222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19" sz="800">
                <a:solidFill>
                  <a:srgbClr val="000000"/>
                </a:solidFill>
                <a:latin typeface="Roboto"/>
              </a:rPr>
              <a:t>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347970"/>
            <a:ext cx="218694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2" sz="800">
                <a:solidFill>
                  <a:srgbClr val="000000"/>
                </a:solidFill>
                <a:latin typeface="Roboto"/>
              </a:rPr>
              <a:t>class C1 extends C2 implements C3 {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760" y="5481320"/>
            <a:ext cx="162433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5" sz="800">
                <a:solidFill>
                  <a:srgbClr val="000000"/>
                </a:solidFill>
                <a:latin typeface="Roboto"/>
              </a:rPr>
              <a:t> public void displayC3() {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2680" y="5614670"/>
            <a:ext cx="225044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1" sz="800">
                <a:solidFill>
                  <a:srgbClr val="000000"/>
                </a:solidFill>
                <a:latin typeface="Roboto"/>
              </a:rPr>
              <a:t> System.out.println("Interface C3");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760" y="5748020"/>
            <a:ext cx="12445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55" sz="800">
                <a:solidFill>
                  <a:srgbClr val="000000"/>
                </a:solidFill>
                <a:latin typeface="Roboto"/>
              </a:rPr>
              <a:t> 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760" y="6014720"/>
            <a:ext cx="118618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5" sz="800">
                <a:solidFill>
                  <a:srgbClr val="000000"/>
                </a:solidFill>
                <a:latin typeface="Roboto"/>
              </a:rPr>
              <a:t> void displayC1() {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2680" y="6148070"/>
            <a:ext cx="200025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6" sz="800">
                <a:solidFill>
                  <a:srgbClr val="000000"/>
                </a:solidFill>
                <a:latin typeface="Roboto"/>
              </a:rPr>
              <a:t> System.out.println("Class C1");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760" y="6281420"/>
            <a:ext cx="12445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55" sz="800">
                <a:solidFill>
                  <a:srgbClr val="000000"/>
                </a:solidFill>
                <a:latin typeface="Roboto"/>
              </a:rPr>
              <a:t> 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414770"/>
            <a:ext cx="6222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19" sz="800">
                <a:solidFill>
                  <a:srgbClr val="000000"/>
                </a:solidFill>
                <a:latin typeface="Roboto"/>
              </a:rPr>
              <a:t>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681470"/>
            <a:ext cx="118745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1" sz="800">
                <a:solidFill>
                  <a:srgbClr val="000000"/>
                </a:solidFill>
                <a:latin typeface="Roboto"/>
              </a:rPr>
              <a:t>public class Main {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760" y="6814820"/>
            <a:ext cx="256159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2" sz="800">
                <a:solidFill>
                  <a:srgbClr val="000000"/>
                </a:solidFill>
                <a:latin typeface="Roboto"/>
              </a:rPr>
              <a:t> public static void main(String[] args) {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2680" y="6948170"/>
            <a:ext cx="118745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1" sz="800">
                <a:solidFill>
                  <a:srgbClr val="000000"/>
                </a:solidFill>
                <a:latin typeface="Roboto"/>
              </a:rPr>
              <a:t> C1 obj = new C1();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2680" y="7081520"/>
            <a:ext cx="106298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6" sz="800">
                <a:solidFill>
                  <a:srgbClr val="000000"/>
                </a:solidFill>
                <a:latin typeface="Roboto"/>
              </a:rPr>
              <a:t> obj.displayC2();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2680" y="7214870"/>
            <a:ext cx="106298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6" sz="800">
                <a:solidFill>
                  <a:srgbClr val="000000"/>
                </a:solidFill>
                <a:latin typeface="Roboto"/>
              </a:rPr>
              <a:t> obj.displayC3();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2680" y="7348220"/>
            <a:ext cx="106298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6" sz="800">
                <a:solidFill>
                  <a:srgbClr val="000000"/>
                </a:solidFill>
                <a:latin typeface="Roboto"/>
              </a:rPr>
              <a:t> obj.displayC1();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760" y="7481570"/>
            <a:ext cx="12445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55" sz="800">
                <a:solidFill>
                  <a:srgbClr val="000000"/>
                </a:solidFill>
                <a:latin typeface="Roboto"/>
              </a:rPr>
              <a:t> 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7614920"/>
            <a:ext cx="6222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19" sz="800">
                <a:solidFill>
                  <a:srgbClr val="000000"/>
                </a:solidFill>
                <a:latin typeface="Roboto"/>
              </a:rPr>
              <a:t>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7908290"/>
            <a:ext cx="11341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1" b="1" sz="1200">
                <a:solidFill>
                  <a:srgbClr val="000000"/>
                </a:solidFill>
                <a:latin typeface="Roboto"/>
              </a:rPr>
              <a:t>Sample Output: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8167370"/>
            <a:ext cx="43688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0" sz="800">
                <a:solidFill>
                  <a:srgbClr val="000000"/>
                </a:solidFill>
                <a:latin typeface="Roboto"/>
              </a:rPr>
              <a:t>Output: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8300720"/>
            <a:ext cx="50038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9" sz="800">
                <a:solidFill>
                  <a:srgbClr val="000000"/>
                </a:solidFill>
                <a:latin typeface="Roboto"/>
              </a:rPr>
              <a:t>Class C2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8434070"/>
            <a:ext cx="74930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9" sz="800">
                <a:solidFill>
                  <a:srgbClr val="000000"/>
                </a:solidFill>
                <a:latin typeface="Roboto"/>
              </a:rPr>
              <a:t>Interface C3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8567420"/>
            <a:ext cx="50038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9" sz="800">
                <a:solidFill>
                  <a:srgbClr val="000000"/>
                </a:solidFill>
                <a:latin typeface="Roboto"/>
              </a:rPr>
              <a:t>Class C1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4200" y="626110"/>
            <a:ext cx="3186429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b="1" sz="1500">
                <a:solidFill>
                  <a:srgbClr val="000000"/>
                </a:solidFill>
                <a:latin typeface="Roboto"/>
              </a:rPr>
              <a:t>3. Class C1 implements Interface I1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4200" y="1012190"/>
            <a:ext cx="13119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7" b="1" sz="1200">
                <a:solidFill>
                  <a:srgbClr val="000000"/>
                </a:solidFill>
                <a:latin typeface="Roboto"/>
              </a:rPr>
              <a:t>Algorithm / Steps: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1273810"/>
            <a:ext cx="6007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" sz="1050">
                <a:solidFill>
                  <a:srgbClr val="000000"/>
                </a:solidFill>
                <a:latin typeface="Roboto"/>
              </a:rPr>
              <a:t>Algorithm: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1540510"/>
            <a:ext cx="12230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000000"/>
                </a:solidFill>
                <a:latin typeface="Roboto"/>
              </a:rPr>
              <a:t>1. Start the program.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1807210"/>
            <a:ext cx="220853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050">
                <a:solidFill>
                  <a:srgbClr val="000000"/>
                </a:solidFill>
                <a:latin typeface="Roboto"/>
              </a:rPr>
              <a:t>2. Create interface I1 with displayI1().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2073910"/>
            <a:ext cx="226060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050">
                <a:solidFill>
                  <a:srgbClr val="000000"/>
                </a:solidFill>
                <a:latin typeface="Roboto"/>
              </a:rPr>
              <a:t>3. Create class C1 that implements I1.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2340610"/>
            <a:ext cx="181610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050">
                <a:solidFill>
                  <a:srgbClr val="000000"/>
                </a:solidFill>
                <a:latin typeface="Roboto"/>
              </a:rPr>
              <a:t>4. Define displayI1() inside C1.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2607310"/>
            <a:ext cx="151892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" sz="1050">
                <a:solidFill>
                  <a:srgbClr val="000000"/>
                </a:solidFill>
                <a:latin typeface="Roboto"/>
              </a:rPr>
              <a:t>5. Create an object of C1.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2874010"/>
            <a:ext cx="125983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050">
                <a:solidFill>
                  <a:srgbClr val="000000"/>
                </a:solidFill>
                <a:latin typeface="Roboto"/>
              </a:rPr>
              <a:t>6. Call both methods.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3140710"/>
            <a:ext cx="125222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050">
                <a:solidFill>
                  <a:srgbClr val="000000"/>
                </a:solidFill>
                <a:latin typeface="Roboto"/>
              </a:rPr>
              <a:t>7. Display the output.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3407410"/>
            <a:ext cx="45974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1050">
                <a:solidFill>
                  <a:srgbClr val="000000"/>
                </a:solidFill>
                <a:latin typeface="Roboto"/>
              </a:rPr>
              <a:t>8. Stop.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3755390"/>
            <a:ext cx="8128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1200">
                <a:solidFill>
                  <a:srgbClr val="000000"/>
                </a:solidFill>
                <a:latin typeface="Roboto"/>
              </a:rPr>
              <a:t>Java Code: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14470"/>
            <a:ext cx="87503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1" sz="800">
                <a:solidFill>
                  <a:srgbClr val="000000"/>
                </a:solidFill>
                <a:latin typeface="Roboto"/>
              </a:rPr>
              <a:t>interface I1 {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760" y="4147820"/>
            <a:ext cx="112395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9" sz="800">
                <a:solidFill>
                  <a:srgbClr val="000000"/>
                </a:solidFill>
                <a:latin typeface="Roboto"/>
              </a:rPr>
              <a:t> void displayI1();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81170"/>
            <a:ext cx="6222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19" sz="800">
                <a:solidFill>
                  <a:srgbClr val="000000"/>
                </a:solidFill>
                <a:latin typeface="Roboto"/>
              </a:rP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547870"/>
            <a:ext cx="149987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6" sz="800">
                <a:solidFill>
                  <a:srgbClr val="000000"/>
                </a:solidFill>
                <a:latin typeface="Roboto"/>
              </a:rPr>
              <a:t>class C1 implements I1 {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760" y="4681220"/>
            <a:ext cx="162433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7" sz="800">
                <a:solidFill>
                  <a:srgbClr val="000000"/>
                </a:solidFill>
                <a:latin typeface="Roboto"/>
              </a:rPr>
              <a:t> public void displayI1() {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2680" y="4814570"/>
            <a:ext cx="268732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5" sz="800">
                <a:solidFill>
                  <a:srgbClr val="000000"/>
                </a:solidFill>
                <a:latin typeface="Roboto"/>
              </a:rPr>
              <a:t> System.out.println("Interface I1 method");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760" y="4947920"/>
            <a:ext cx="12445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55" sz="800">
                <a:solidFill>
                  <a:srgbClr val="000000"/>
                </a:solidFill>
                <a:latin typeface="Roboto"/>
              </a:rPr>
              <a:t> 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760" y="5214620"/>
            <a:ext cx="118618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5" sz="800">
                <a:solidFill>
                  <a:srgbClr val="000000"/>
                </a:solidFill>
                <a:latin typeface="Roboto"/>
              </a:rPr>
              <a:t> void displayC1() {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2680" y="5347970"/>
            <a:ext cx="243713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3" sz="800">
                <a:solidFill>
                  <a:srgbClr val="000000"/>
                </a:solidFill>
                <a:latin typeface="Roboto"/>
              </a:rPr>
              <a:t> System.out.println("Class C1 method");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760" y="5481320"/>
            <a:ext cx="12445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55" sz="800">
                <a:solidFill>
                  <a:srgbClr val="000000"/>
                </a:solidFill>
                <a:latin typeface="Roboto"/>
              </a:rPr>
              <a:t> 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614670"/>
            <a:ext cx="6222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19" sz="800">
                <a:solidFill>
                  <a:srgbClr val="000000"/>
                </a:solidFill>
                <a:latin typeface="Roboto"/>
              </a:rPr>
              <a:t>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881370"/>
            <a:ext cx="118745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1" sz="800">
                <a:solidFill>
                  <a:srgbClr val="000000"/>
                </a:solidFill>
                <a:latin typeface="Roboto"/>
              </a:rPr>
              <a:t>public class Main {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760" y="6014720"/>
            <a:ext cx="256159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2" sz="800">
                <a:solidFill>
                  <a:srgbClr val="000000"/>
                </a:solidFill>
                <a:latin typeface="Roboto"/>
              </a:rPr>
              <a:t> public static void main(String[] args) {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2680" y="6148070"/>
            <a:ext cx="118745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1" sz="800">
                <a:solidFill>
                  <a:srgbClr val="000000"/>
                </a:solidFill>
                <a:latin typeface="Roboto"/>
              </a:rPr>
              <a:t> C1 obj = new C1();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2680" y="6281420"/>
            <a:ext cx="106298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4" sz="800">
                <a:solidFill>
                  <a:srgbClr val="000000"/>
                </a:solidFill>
                <a:latin typeface="Roboto"/>
              </a:rPr>
              <a:t> obj.displayI1();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2680" y="6414770"/>
            <a:ext cx="106298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6" sz="800">
                <a:solidFill>
                  <a:srgbClr val="000000"/>
                </a:solidFill>
                <a:latin typeface="Roboto"/>
              </a:rPr>
              <a:t> obj.displayC1();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760" y="6548120"/>
            <a:ext cx="12445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55" sz="800">
                <a:solidFill>
                  <a:srgbClr val="000000"/>
                </a:solidFill>
                <a:latin typeface="Roboto"/>
              </a:rPr>
              <a:t> 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681470"/>
            <a:ext cx="6222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19" sz="800">
                <a:solidFill>
                  <a:srgbClr val="000000"/>
                </a:solidFill>
                <a:latin typeface="Roboto"/>
              </a:rPr>
              <a:t>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6974840"/>
            <a:ext cx="11341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1" b="1" sz="1200">
                <a:solidFill>
                  <a:srgbClr val="000000"/>
                </a:solidFill>
                <a:latin typeface="Roboto"/>
              </a:rPr>
              <a:t>Sample Output: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7233920"/>
            <a:ext cx="43688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0" sz="800">
                <a:solidFill>
                  <a:srgbClr val="000000"/>
                </a:solidFill>
                <a:latin typeface="Roboto"/>
              </a:rPr>
              <a:t>Output: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7367270"/>
            <a:ext cx="118745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5" sz="800">
                <a:solidFill>
                  <a:srgbClr val="000000"/>
                </a:solidFill>
                <a:latin typeface="Roboto"/>
              </a:rPr>
              <a:t>Interface I1 method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7500620"/>
            <a:ext cx="93726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6" sz="800">
                <a:solidFill>
                  <a:srgbClr val="000000"/>
                </a:solidFill>
                <a:latin typeface="Roboto"/>
              </a:rPr>
              <a:t>Class C1 method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4200" y="626110"/>
            <a:ext cx="4011929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4" b="1" sz="1500">
                <a:solidFill>
                  <a:srgbClr val="000000"/>
                </a:solidFill>
                <a:latin typeface="Roboto"/>
              </a:rPr>
              <a:t>4. C1 implements I1, I2 — Multiple Interfaces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4200" y="1012190"/>
            <a:ext cx="13119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7" b="1" sz="1200">
                <a:solidFill>
                  <a:srgbClr val="000000"/>
                </a:solidFill>
                <a:latin typeface="Roboto"/>
              </a:rPr>
              <a:t>Algorithm / Steps: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1273810"/>
            <a:ext cx="6007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" sz="1050">
                <a:solidFill>
                  <a:srgbClr val="000000"/>
                </a:solidFill>
                <a:latin typeface="Roboto"/>
              </a:rPr>
              <a:t>Algorithm: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1540510"/>
            <a:ext cx="12230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000000"/>
                </a:solidFill>
                <a:latin typeface="Roboto"/>
              </a:rPr>
              <a:t>1. Start the program.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1807210"/>
            <a:ext cx="17564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050">
                <a:solidFill>
                  <a:srgbClr val="000000"/>
                </a:solidFill>
                <a:latin typeface="Roboto"/>
              </a:rPr>
              <a:t>2. Create interfaces I1 and I2.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2073910"/>
            <a:ext cx="240157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1050">
                <a:solidFill>
                  <a:srgbClr val="000000"/>
                </a:solidFill>
                <a:latin typeface="Roboto"/>
              </a:rPr>
              <a:t>3. Declare one method in each interface.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2340610"/>
            <a:ext cx="247523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050">
                <a:solidFill>
                  <a:srgbClr val="000000"/>
                </a:solidFill>
                <a:latin typeface="Roboto"/>
              </a:rPr>
              <a:t>4. Create C1 implementing both I1 and I2.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2607310"/>
            <a:ext cx="22009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" sz="1050">
                <a:solidFill>
                  <a:srgbClr val="000000"/>
                </a:solidFill>
                <a:latin typeface="Roboto"/>
              </a:rPr>
              <a:t>5. Implement both interface methods.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2874010"/>
            <a:ext cx="151892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" sz="1050">
                <a:solidFill>
                  <a:srgbClr val="000000"/>
                </a:solidFill>
                <a:latin typeface="Roboto"/>
              </a:rPr>
              <a:t>6. Create an object of C1.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3140710"/>
            <a:ext cx="125983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050">
                <a:solidFill>
                  <a:srgbClr val="000000"/>
                </a:solidFill>
                <a:latin typeface="Roboto"/>
              </a:rPr>
              <a:t>7. Call both methods.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3407410"/>
            <a:ext cx="17564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050">
                <a:solidFill>
                  <a:srgbClr val="000000"/>
                </a:solidFill>
                <a:latin typeface="Roboto"/>
              </a:rPr>
              <a:t>8. Display the result and stop.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3755390"/>
            <a:ext cx="8128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1200">
                <a:solidFill>
                  <a:srgbClr val="000000"/>
                </a:solidFill>
                <a:latin typeface="Roboto"/>
              </a:rPr>
              <a:t>Java Code: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14470"/>
            <a:ext cx="87503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1" sz="800">
                <a:solidFill>
                  <a:srgbClr val="000000"/>
                </a:solidFill>
                <a:latin typeface="Roboto"/>
              </a:rPr>
              <a:t>interface I1 {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760" y="4147820"/>
            <a:ext cx="112395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9" sz="800">
                <a:solidFill>
                  <a:srgbClr val="000000"/>
                </a:solidFill>
                <a:latin typeface="Roboto"/>
              </a:rPr>
              <a:t> void displayI1();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81170"/>
            <a:ext cx="6222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19" sz="800">
                <a:solidFill>
                  <a:srgbClr val="000000"/>
                </a:solidFill>
                <a:latin typeface="Roboto"/>
              </a:rP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547870"/>
            <a:ext cx="87503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1" sz="800">
                <a:solidFill>
                  <a:srgbClr val="000000"/>
                </a:solidFill>
                <a:latin typeface="Roboto"/>
              </a:rPr>
              <a:t>interface I2 {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760" y="4681220"/>
            <a:ext cx="112395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9" sz="800">
                <a:solidFill>
                  <a:srgbClr val="000000"/>
                </a:solidFill>
                <a:latin typeface="Roboto"/>
              </a:rPr>
              <a:t> void displayI2();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14570"/>
            <a:ext cx="6222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19" sz="800">
                <a:solidFill>
                  <a:srgbClr val="000000"/>
                </a:solidFill>
                <a:latin typeface="Roboto"/>
              </a:rPr>
              <a:t>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081270"/>
            <a:ext cx="175006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1" sz="800">
                <a:solidFill>
                  <a:srgbClr val="000000"/>
                </a:solidFill>
                <a:latin typeface="Roboto"/>
              </a:rPr>
              <a:t>class C1 implements I1, I2 {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760" y="5214620"/>
            <a:ext cx="162433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7" sz="800">
                <a:solidFill>
                  <a:srgbClr val="000000"/>
                </a:solidFill>
                <a:latin typeface="Roboto"/>
              </a:rPr>
              <a:t> public void displayI1() {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2680" y="5347970"/>
            <a:ext cx="225044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9" sz="800">
                <a:solidFill>
                  <a:srgbClr val="000000"/>
                </a:solidFill>
                <a:latin typeface="Roboto"/>
              </a:rPr>
              <a:t> System.out.println("Interface I1");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760" y="5481320"/>
            <a:ext cx="12445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55" sz="800">
                <a:solidFill>
                  <a:srgbClr val="000000"/>
                </a:solidFill>
                <a:latin typeface="Roboto"/>
              </a:rPr>
              <a:t> 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760" y="5748020"/>
            <a:ext cx="162433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7" sz="800">
                <a:solidFill>
                  <a:srgbClr val="000000"/>
                </a:solidFill>
                <a:latin typeface="Roboto"/>
              </a:rPr>
              <a:t> public void displayI2() {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2680" y="5881370"/>
            <a:ext cx="225044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9" sz="800">
                <a:solidFill>
                  <a:srgbClr val="000000"/>
                </a:solidFill>
                <a:latin typeface="Roboto"/>
              </a:rPr>
              <a:t> System.out.println("Interface I2");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760" y="6014720"/>
            <a:ext cx="12445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55" sz="800">
                <a:solidFill>
                  <a:srgbClr val="000000"/>
                </a:solidFill>
                <a:latin typeface="Roboto"/>
              </a:rPr>
              <a:t> 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148070"/>
            <a:ext cx="6222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19" sz="800">
                <a:solidFill>
                  <a:srgbClr val="000000"/>
                </a:solidFill>
                <a:latin typeface="Roboto"/>
              </a:rPr>
              <a:t>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414770"/>
            <a:ext cx="118745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1" sz="800">
                <a:solidFill>
                  <a:srgbClr val="000000"/>
                </a:solidFill>
                <a:latin typeface="Roboto"/>
              </a:rPr>
              <a:t>public class Main {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760" y="6548120"/>
            <a:ext cx="256159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2" sz="800">
                <a:solidFill>
                  <a:srgbClr val="000000"/>
                </a:solidFill>
                <a:latin typeface="Roboto"/>
              </a:rPr>
              <a:t> public static void main(String[] args) {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2680" y="6681470"/>
            <a:ext cx="118745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1" sz="800">
                <a:solidFill>
                  <a:srgbClr val="000000"/>
                </a:solidFill>
                <a:latin typeface="Roboto"/>
              </a:rPr>
              <a:t> C1 obj = new C1();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2680" y="6814820"/>
            <a:ext cx="106298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4" sz="800">
                <a:solidFill>
                  <a:srgbClr val="000000"/>
                </a:solidFill>
                <a:latin typeface="Roboto"/>
              </a:rPr>
              <a:t> obj.displayI1();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2680" y="6948170"/>
            <a:ext cx="106298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4" sz="800">
                <a:solidFill>
                  <a:srgbClr val="000000"/>
                </a:solidFill>
                <a:latin typeface="Roboto"/>
              </a:rPr>
              <a:t> obj.displayI2();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760" y="7081520"/>
            <a:ext cx="12445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55" sz="800">
                <a:solidFill>
                  <a:srgbClr val="000000"/>
                </a:solidFill>
                <a:latin typeface="Roboto"/>
              </a:rPr>
              <a:t> 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7214870"/>
            <a:ext cx="6222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19" sz="800">
                <a:solidFill>
                  <a:srgbClr val="000000"/>
                </a:solidFill>
                <a:latin typeface="Roboto"/>
              </a:rPr>
              <a:t>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7508240"/>
            <a:ext cx="11341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1" b="1" sz="1200">
                <a:solidFill>
                  <a:srgbClr val="000000"/>
                </a:solidFill>
                <a:latin typeface="Roboto"/>
              </a:rPr>
              <a:t>Sample Output: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7767320"/>
            <a:ext cx="43688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0" sz="800">
                <a:solidFill>
                  <a:srgbClr val="000000"/>
                </a:solidFill>
                <a:latin typeface="Roboto"/>
              </a:rPr>
              <a:t>Output: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7900670"/>
            <a:ext cx="74930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5" sz="800">
                <a:solidFill>
                  <a:srgbClr val="000000"/>
                </a:solidFill>
                <a:latin typeface="Roboto"/>
              </a:rPr>
              <a:t>Interface I1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8034020"/>
            <a:ext cx="74930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5" sz="800">
                <a:solidFill>
                  <a:srgbClr val="000000"/>
                </a:solidFill>
                <a:latin typeface="Roboto"/>
              </a:rPr>
              <a:t>Interface I2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4200" y="626110"/>
            <a:ext cx="371094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2" b="1" sz="1500">
                <a:solidFill>
                  <a:srgbClr val="000000"/>
                </a:solidFill>
                <a:latin typeface="Roboto"/>
              </a:rPr>
              <a:t>5. Class + Interface — Correct Java 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4200" y="1012190"/>
            <a:ext cx="13119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7" b="1" sz="1200">
                <a:solidFill>
                  <a:srgbClr val="000000"/>
                </a:solidFill>
                <a:latin typeface="Roboto"/>
              </a:rPr>
              <a:t>Algorithm / Steps: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1273810"/>
            <a:ext cx="6007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" sz="1050">
                <a:solidFill>
                  <a:srgbClr val="000000"/>
                </a:solidFill>
                <a:latin typeface="Roboto"/>
              </a:rPr>
              <a:t>Algorithm: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1540510"/>
            <a:ext cx="12230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000000"/>
                </a:solidFill>
                <a:latin typeface="Roboto"/>
              </a:rPr>
              <a:t>1. Start the program.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1807210"/>
            <a:ext cx="128270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050">
                <a:solidFill>
                  <a:srgbClr val="000000"/>
                </a:solidFill>
                <a:latin typeface="Roboto"/>
              </a:rPr>
              <a:t>2. Create interface I1.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2073910"/>
            <a:ext cx="154940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" sz="1050">
                <a:solidFill>
                  <a:srgbClr val="000000"/>
                </a:solidFill>
                <a:latin typeface="Roboto"/>
              </a:rPr>
              <a:t>3. Create parent class C2.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2340610"/>
            <a:ext cx="298704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" sz="1050">
                <a:solidFill>
                  <a:srgbClr val="000000"/>
                </a:solidFill>
                <a:latin typeface="Roboto"/>
              </a:rPr>
              <a:t>4. Create C1 using extends C2 and implements I1.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2607310"/>
            <a:ext cx="200913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050">
                <a:solidFill>
                  <a:srgbClr val="000000"/>
                </a:solidFill>
                <a:latin typeface="Roboto"/>
              </a:rPr>
              <a:t>5. Implement the I1 method in C1.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2874010"/>
            <a:ext cx="151892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" sz="1050">
                <a:solidFill>
                  <a:srgbClr val="000000"/>
                </a:solidFill>
                <a:latin typeface="Roboto"/>
              </a:rPr>
              <a:t>6. Create an object of C1.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3140710"/>
            <a:ext cx="182372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" sz="1050">
                <a:solidFill>
                  <a:srgbClr val="000000"/>
                </a:solidFill>
                <a:latin typeface="Roboto"/>
              </a:rPr>
              <a:t>7. Call C2, I1 and C1 methods.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3407410"/>
            <a:ext cx="180086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000000"/>
                </a:solidFill>
                <a:latin typeface="Roboto"/>
              </a:rPr>
              <a:t>8. Display the output and stop.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3674110"/>
            <a:ext cx="639190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000000"/>
                </a:solidFill>
                <a:latin typeface="Roboto"/>
              </a:rPr>
              <a:t>Note: The assignment's “C1 implements C2 extends I1” is not valid Java. The correct form is “C1 extends C2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3864610"/>
            <a:ext cx="91186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" sz="1050">
                <a:solidFill>
                  <a:srgbClr val="000000"/>
                </a:solidFill>
                <a:latin typeface="Roboto"/>
              </a:rPr>
              <a:t>implements I1”.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4212590"/>
            <a:ext cx="8128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1200">
                <a:solidFill>
                  <a:srgbClr val="000000"/>
                </a:solidFill>
                <a:latin typeface="Roboto"/>
              </a:rPr>
              <a:t>Java Code: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471670"/>
            <a:ext cx="87503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1" sz="800">
                <a:solidFill>
                  <a:srgbClr val="000000"/>
                </a:solidFill>
                <a:latin typeface="Roboto"/>
              </a:rPr>
              <a:t>interface I1 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760" y="4605020"/>
            <a:ext cx="112395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9" sz="800">
                <a:solidFill>
                  <a:srgbClr val="000000"/>
                </a:solidFill>
                <a:latin typeface="Roboto"/>
              </a:rPr>
              <a:t> void displayI1();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738370"/>
            <a:ext cx="6222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19" sz="800">
                <a:solidFill>
                  <a:srgbClr val="000000"/>
                </a:solidFill>
                <a:latin typeface="Roboto"/>
              </a:rPr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005070"/>
            <a:ext cx="62484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0" sz="800">
                <a:solidFill>
                  <a:srgbClr val="000000"/>
                </a:solidFill>
                <a:latin typeface="Roboto"/>
              </a:rPr>
              <a:t>class C2 {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760" y="5138420"/>
            <a:ext cx="118618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5" sz="800">
                <a:solidFill>
                  <a:srgbClr val="000000"/>
                </a:solidFill>
                <a:latin typeface="Roboto"/>
              </a:rPr>
              <a:t> void displayC2() {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2680" y="5271770"/>
            <a:ext cx="200025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6" sz="800">
                <a:solidFill>
                  <a:srgbClr val="000000"/>
                </a:solidFill>
                <a:latin typeface="Roboto"/>
              </a:rPr>
              <a:t> System.out.println("Class C2");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760" y="5405120"/>
            <a:ext cx="12445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55" sz="800">
                <a:solidFill>
                  <a:srgbClr val="000000"/>
                </a:solidFill>
                <a:latin typeface="Roboto"/>
              </a:rPr>
              <a:t> 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538470"/>
            <a:ext cx="6222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19" sz="800">
                <a:solidFill>
                  <a:srgbClr val="000000"/>
                </a:solidFill>
                <a:latin typeface="Roboto"/>
              </a:rPr>
              <a:t>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805170"/>
            <a:ext cx="218694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1" sz="800">
                <a:solidFill>
                  <a:srgbClr val="000000"/>
                </a:solidFill>
                <a:latin typeface="Roboto"/>
              </a:rPr>
              <a:t>class C1 extends C2 implements I1 {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760" y="5938520"/>
            <a:ext cx="162433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7" sz="800">
                <a:solidFill>
                  <a:srgbClr val="000000"/>
                </a:solidFill>
                <a:latin typeface="Roboto"/>
              </a:rPr>
              <a:t> public void displayI1() {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2680" y="6071870"/>
            <a:ext cx="225044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9" sz="800">
                <a:solidFill>
                  <a:srgbClr val="000000"/>
                </a:solidFill>
                <a:latin typeface="Roboto"/>
              </a:rPr>
              <a:t> System.out.println("Interface I1");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760" y="6205220"/>
            <a:ext cx="12445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55" sz="800">
                <a:solidFill>
                  <a:srgbClr val="000000"/>
                </a:solidFill>
                <a:latin typeface="Roboto"/>
              </a:rPr>
              <a:t> 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760" y="6471920"/>
            <a:ext cx="118618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5" sz="800">
                <a:solidFill>
                  <a:srgbClr val="000000"/>
                </a:solidFill>
                <a:latin typeface="Roboto"/>
              </a:rPr>
              <a:t> void displayC1() {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2680" y="6605270"/>
            <a:ext cx="200025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6" sz="800">
                <a:solidFill>
                  <a:srgbClr val="000000"/>
                </a:solidFill>
                <a:latin typeface="Roboto"/>
              </a:rPr>
              <a:t> System.out.println("Class C1");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760" y="6738620"/>
            <a:ext cx="12445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55" sz="800">
                <a:solidFill>
                  <a:srgbClr val="000000"/>
                </a:solidFill>
                <a:latin typeface="Roboto"/>
              </a:rPr>
              <a:t> 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871970"/>
            <a:ext cx="6222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19" sz="800">
                <a:solidFill>
                  <a:srgbClr val="000000"/>
                </a:solidFill>
                <a:latin typeface="Roboto"/>
              </a:rPr>
              <a:t>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7138670"/>
            <a:ext cx="118745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1" sz="800">
                <a:solidFill>
                  <a:srgbClr val="000000"/>
                </a:solidFill>
                <a:latin typeface="Roboto"/>
              </a:rPr>
              <a:t>public class Main {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760" y="7272020"/>
            <a:ext cx="256159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2" sz="800">
                <a:solidFill>
                  <a:srgbClr val="000000"/>
                </a:solidFill>
                <a:latin typeface="Roboto"/>
              </a:rPr>
              <a:t> public static void main(String[] args) {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2680" y="7405370"/>
            <a:ext cx="118745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1" sz="800">
                <a:solidFill>
                  <a:srgbClr val="000000"/>
                </a:solidFill>
                <a:latin typeface="Roboto"/>
              </a:rPr>
              <a:t> C1 obj = new C1();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2680" y="7538720"/>
            <a:ext cx="106298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6" sz="800">
                <a:solidFill>
                  <a:srgbClr val="000000"/>
                </a:solidFill>
                <a:latin typeface="Roboto"/>
              </a:rPr>
              <a:t> obj.displayC2();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2680" y="7672070"/>
            <a:ext cx="106298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4" sz="800">
                <a:solidFill>
                  <a:srgbClr val="000000"/>
                </a:solidFill>
                <a:latin typeface="Roboto"/>
              </a:rPr>
              <a:t> obj.displayI1();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2680" y="7805420"/>
            <a:ext cx="106298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6" sz="800">
                <a:solidFill>
                  <a:srgbClr val="000000"/>
                </a:solidFill>
                <a:latin typeface="Roboto"/>
              </a:rPr>
              <a:t> obj.displayC1();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760" y="7938770"/>
            <a:ext cx="12445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55" sz="800">
                <a:solidFill>
                  <a:srgbClr val="000000"/>
                </a:solidFill>
                <a:latin typeface="Roboto"/>
              </a:rPr>
              <a:t> 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8072120"/>
            <a:ext cx="6222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19" sz="800">
                <a:solidFill>
                  <a:srgbClr val="000000"/>
                </a:solidFill>
                <a:latin typeface="Roboto"/>
              </a:rPr>
              <a:t>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8365490"/>
            <a:ext cx="11341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1" b="1" sz="1200">
                <a:solidFill>
                  <a:srgbClr val="000000"/>
                </a:solidFill>
                <a:latin typeface="Roboto"/>
              </a:rPr>
              <a:t>Sample Output: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8624570"/>
            <a:ext cx="43688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0" sz="800">
                <a:solidFill>
                  <a:srgbClr val="000000"/>
                </a:solidFill>
                <a:latin typeface="Roboto"/>
              </a:rPr>
              <a:t>Output: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8757920"/>
            <a:ext cx="50038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9" sz="800">
                <a:solidFill>
                  <a:srgbClr val="000000"/>
                </a:solidFill>
                <a:latin typeface="Roboto"/>
              </a:rPr>
              <a:t>Class C2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8891270"/>
            <a:ext cx="74930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5" sz="800">
                <a:solidFill>
                  <a:srgbClr val="000000"/>
                </a:solidFill>
                <a:latin typeface="Roboto"/>
              </a:rPr>
              <a:t>Interface I1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9024620"/>
            <a:ext cx="50038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9" sz="800">
                <a:solidFill>
                  <a:srgbClr val="000000"/>
                </a:solidFill>
                <a:latin typeface="Roboto"/>
              </a:rPr>
              <a:t>Class C1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4200" y="626110"/>
            <a:ext cx="220218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4" b="1" sz="1500">
                <a:solidFill>
                  <a:srgbClr val="000000"/>
                </a:solidFill>
                <a:latin typeface="Roboto"/>
              </a:rPr>
              <a:t>6. Interface I1 extends I2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4200" y="1012190"/>
            <a:ext cx="13119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7" b="1" sz="1200">
                <a:solidFill>
                  <a:srgbClr val="000000"/>
                </a:solidFill>
                <a:latin typeface="Roboto"/>
              </a:rPr>
              <a:t>Algorithm / Steps: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1273810"/>
            <a:ext cx="6007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" sz="1050">
                <a:solidFill>
                  <a:srgbClr val="000000"/>
                </a:solidFill>
                <a:latin typeface="Roboto"/>
              </a:rPr>
              <a:t>Algorithm: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1540510"/>
            <a:ext cx="12230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000000"/>
                </a:solidFill>
                <a:latin typeface="Roboto"/>
              </a:rPr>
              <a:t>1. Start the program.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1807210"/>
            <a:ext cx="220853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050">
                <a:solidFill>
                  <a:srgbClr val="000000"/>
                </a:solidFill>
                <a:latin typeface="Roboto"/>
              </a:rPr>
              <a:t>2. Create interface I2 with displayI2().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2073910"/>
            <a:ext cx="204597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1050">
                <a:solidFill>
                  <a:srgbClr val="000000"/>
                </a:solidFill>
                <a:latin typeface="Roboto"/>
              </a:rPr>
              <a:t>3. Create interface I1 extending I2.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2340610"/>
            <a:ext cx="137160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000000"/>
                </a:solidFill>
                <a:latin typeface="Roboto"/>
              </a:rPr>
              <a:t>4. Add displayI1() to I1.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2607310"/>
            <a:ext cx="21120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1050">
                <a:solidFill>
                  <a:srgbClr val="000000"/>
                </a:solidFill>
                <a:latin typeface="Roboto"/>
              </a:rPr>
              <a:t>5. Create class C1 implementing I1.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2874010"/>
            <a:ext cx="276479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050">
                <a:solidFill>
                  <a:srgbClr val="000000"/>
                </a:solidFill>
                <a:latin typeface="Roboto"/>
              </a:rPr>
              <a:t>6. Implement methods from I1 and inherited I2.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3140710"/>
            <a:ext cx="25057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000000"/>
                </a:solidFill>
                <a:latin typeface="Roboto"/>
              </a:rPr>
              <a:t>7. Create an object and call both methods.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3407410"/>
            <a:ext cx="17564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050">
                <a:solidFill>
                  <a:srgbClr val="000000"/>
                </a:solidFill>
                <a:latin typeface="Roboto"/>
              </a:rPr>
              <a:t>8. Display the result and stop.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3755390"/>
            <a:ext cx="8128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1200">
                <a:solidFill>
                  <a:srgbClr val="000000"/>
                </a:solidFill>
                <a:latin typeface="Roboto"/>
              </a:rPr>
              <a:t>Java Code: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14470"/>
            <a:ext cx="87503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1" sz="800">
                <a:solidFill>
                  <a:srgbClr val="000000"/>
                </a:solidFill>
                <a:latin typeface="Roboto"/>
              </a:rPr>
              <a:t>interface I2 {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760" y="4147820"/>
            <a:ext cx="112395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9" sz="800">
                <a:solidFill>
                  <a:srgbClr val="000000"/>
                </a:solidFill>
                <a:latin typeface="Roboto"/>
              </a:rPr>
              <a:t> void displayI2();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81170"/>
            <a:ext cx="6222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19" sz="800">
                <a:solidFill>
                  <a:srgbClr val="000000"/>
                </a:solidFill>
                <a:latin typeface="Roboto"/>
              </a:rP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547870"/>
            <a:ext cx="156210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7" sz="800">
                <a:solidFill>
                  <a:srgbClr val="000000"/>
                </a:solidFill>
                <a:latin typeface="Roboto"/>
              </a:rPr>
              <a:t>interface I1 extends I2 {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760" y="4681220"/>
            <a:ext cx="112395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9" sz="800">
                <a:solidFill>
                  <a:srgbClr val="000000"/>
                </a:solidFill>
                <a:latin typeface="Roboto"/>
              </a:rPr>
              <a:t> void displayI1();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14570"/>
            <a:ext cx="6222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19" sz="800">
                <a:solidFill>
                  <a:srgbClr val="000000"/>
                </a:solidFill>
                <a:latin typeface="Roboto"/>
              </a:rPr>
              <a:t>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081270"/>
            <a:ext cx="149987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6" sz="800">
                <a:solidFill>
                  <a:srgbClr val="000000"/>
                </a:solidFill>
                <a:latin typeface="Roboto"/>
              </a:rPr>
              <a:t>class C1 implements I1 {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760" y="5214620"/>
            <a:ext cx="162433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7" sz="800">
                <a:solidFill>
                  <a:srgbClr val="000000"/>
                </a:solidFill>
                <a:latin typeface="Roboto"/>
              </a:rPr>
              <a:t> public void displayI1() {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2680" y="5347970"/>
            <a:ext cx="225044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9" sz="800">
                <a:solidFill>
                  <a:srgbClr val="000000"/>
                </a:solidFill>
                <a:latin typeface="Roboto"/>
              </a:rPr>
              <a:t> System.out.println("Interface I1");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760" y="5481320"/>
            <a:ext cx="12445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55" sz="800">
                <a:solidFill>
                  <a:srgbClr val="000000"/>
                </a:solidFill>
                <a:latin typeface="Roboto"/>
              </a:rPr>
              <a:t> 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760" y="5748020"/>
            <a:ext cx="162433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7" sz="800">
                <a:solidFill>
                  <a:srgbClr val="000000"/>
                </a:solidFill>
                <a:latin typeface="Roboto"/>
              </a:rPr>
              <a:t> public void displayI2() {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2680" y="5881370"/>
            <a:ext cx="225044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9" sz="800">
                <a:solidFill>
                  <a:srgbClr val="000000"/>
                </a:solidFill>
                <a:latin typeface="Roboto"/>
              </a:rPr>
              <a:t> System.out.println("Interface I2");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760" y="6014720"/>
            <a:ext cx="12445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55" sz="800">
                <a:solidFill>
                  <a:srgbClr val="000000"/>
                </a:solidFill>
                <a:latin typeface="Roboto"/>
              </a:rPr>
              <a:t> 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148070"/>
            <a:ext cx="6222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19" sz="800">
                <a:solidFill>
                  <a:srgbClr val="000000"/>
                </a:solidFill>
                <a:latin typeface="Roboto"/>
              </a:rPr>
              <a:t>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414770"/>
            <a:ext cx="118745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1" sz="800">
                <a:solidFill>
                  <a:srgbClr val="000000"/>
                </a:solidFill>
                <a:latin typeface="Roboto"/>
              </a:rPr>
              <a:t>public class Main {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760" y="6548120"/>
            <a:ext cx="256159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2" sz="800">
                <a:solidFill>
                  <a:srgbClr val="000000"/>
                </a:solidFill>
                <a:latin typeface="Roboto"/>
              </a:rPr>
              <a:t> public static void main(String[] args) {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2680" y="6681470"/>
            <a:ext cx="118745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1" sz="800">
                <a:solidFill>
                  <a:srgbClr val="000000"/>
                </a:solidFill>
                <a:latin typeface="Roboto"/>
              </a:rPr>
              <a:t> C1 obj = new C1();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2680" y="6814820"/>
            <a:ext cx="106298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4" sz="800">
                <a:solidFill>
                  <a:srgbClr val="000000"/>
                </a:solidFill>
                <a:latin typeface="Roboto"/>
              </a:rPr>
              <a:t> obj.displayI2();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2680" y="6948170"/>
            <a:ext cx="106298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4" sz="800">
                <a:solidFill>
                  <a:srgbClr val="000000"/>
                </a:solidFill>
                <a:latin typeface="Roboto"/>
              </a:rPr>
              <a:t> obj.displayI1();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760" y="7081520"/>
            <a:ext cx="12445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55" sz="800">
                <a:solidFill>
                  <a:srgbClr val="000000"/>
                </a:solidFill>
                <a:latin typeface="Roboto"/>
              </a:rPr>
              <a:t> 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7214870"/>
            <a:ext cx="6222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19" sz="800">
                <a:solidFill>
                  <a:srgbClr val="000000"/>
                </a:solidFill>
                <a:latin typeface="Roboto"/>
              </a:rPr>
              <a:t>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7508240"/>
            <a:ext cx="11341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1" b="1" sz="1200">
                <a:solidFill>
                  <a:srgbClr val="000000"/>
                </a:solidFill>
                <a:latin typeface="Roboto"/>
              </a:rPr>
              <a:t>Sample Output: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7767320"/>
            <a:ext cx="43688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0" sz="800">
                <a:solidFill>
                  <a:srgbClr val="000000"/>
                </a:solidFill>
                <a:latin typeface="Roboto"/>
              </a:rPr>
              <a:t>Output: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7900670"/>
            <a:ext cx="74930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5" sz="800">
                <a:solidFill>
                  <a:srgbClr val="000000"/>
                </a:solidFill>
                <a:latin typeface="Roboto"/>
              </a:rPr>
              <a:t>Interface I2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8034020"/>
            <a:ext cx="74930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5" sz="800">
                <a:solidFill>
                  <a:srgbClr val="000000"/>
                </a:solidFill>
                <a:latin typeface="Roboto"/>
              </a:rPr>
              <a:t>Interface I1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4200" y="626110"/>
            <a:ext cx="393827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3" b="1" sz="1500">
                <a:solidFill>
                  <a:srgbClr val="000000"/>
                </a:solidFill>
                <a:latin typeface="Roboto"/>
              </a:rPr>
              <a:t>7. Interface and Class — Correct Java 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4200" y="1012190"/>
            <a:ext cx="13119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7" b="1" sz="1200">
                <a:solidFill>
                  <a:srgbClr val="000000"/>
                </a:solidFill>
                <a:latin typeface="Roboto"/>
              </a:rPr>
              <a:t>Algorithm / Steps: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1273810"/>
            <a:ext cx="6007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" sz="1050">
                <a:solidFill>
                  <a:srgbClr val="000000"/>
                </a:solidFill>
                <a:latin typeface="Roboto"/>
              </a:rPr>
              <a:t>Algorithm: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1540510"/>
            <a:ext cx="12230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000000"/>
                </a:solidFill>
                <a:latin typeface="Roboto"/>
              </a:rPr>
              <a:t>1. Start the program.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1807210"/>
            <a:ext cx="209677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050">
                <a:solidFill>
                  <a:srgbClr val="000000"/>
                </a:solidFill>
                <a:latin typeface="Roboto"/>
              </a:rPr>
              <a:t>2. Create interface I1 with display().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2073910"/>
            <a:ext cx="21120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1050">
                <a:solidFill>
                  <a:srgbClr val="000000"/>
                </a:solidFill>
                <a:latin typeface="Roboto"/>
              </a:rPr>
              <a:t>3. Create class C1 implementing I1.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2340610"/>
            <a:ext cx="216408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1050">
                <a:solidFill>
                  <a:srgbClr val="000000"/>
                </a:solidFill>
                <a:latin typeface="Roboto"/>
              </a:rPr>
              <a:t>4. Define the display() method in C1.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2607310"/>
            <a:ext cx="151892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" sz="1050">
                <a:solidFill>
                  <a:srgbClr val="000000"/>
                </a:solidFill>
                <a:latin typeface="Roboto"/>
              </a:rPr>
              <a:t>5. Create an object of C1.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2874010"/>
            <a:ext cx="9563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050">
                <a:solidFill>
                  <a:srgbClr val="000000"/>
                </a:solidFill>
                <a:latin typeface="Roboto"/>
              </a:rPr>
              <a:t>6. Call display().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3140710"/>
            <a:ext cx="11493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050">
                <a:solidFill>
                  <a:srgbClr val="000000"/>
                </a:solidFill>
                <a:latin typeface="Roboto"/>
              </a:rPr>
              <a:t>7. Show the output.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3407410"/>
            <a:ext cx="45974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1050">
                <a:solidFill>
                  <a:srgbClr val="000000"/>
                </a:solidFill>
                <a:latin typeface="Roboto"/>
              </a:rPr>
              <a:t>8. Stop.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3674110"/>
            <a:ext cx="633603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050">
                <a:solidFill>
                  <a:srgbClr val="000000"/>
                </a:solidFill>
                <a:latin typeface="Roboto"/>
              </a:rPr>
              <a:t>Note: “I1 implements C1” is not valid Java because an interface cannot implement a class. The correct 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3864610"/>
            <a:ext cx="129667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050">
                <a:solidFill>
                  <a:srgbClr val="000000"/>
                </a:solidFill>
                <a:latin typeface="Roboto"/>
              </a:rPr>
              <a:t>is “C1 implements I1”.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4212590"/>
            <a:ext cx="8128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1200">
                <a:solidFill>
                  <a:srgbClr val="000000"/>
                </a:solidFill>
                <a:latin typeface="Roboto"/>
              </a:rPr>
              <a:t>Java Code: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471670"/>
            <a:ext cx="87503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1" sz="800">
                <a:solidFill>
                  <a:srgbClr val="000000"/>
                </a:solidFill>
                <a:latin typeface="Roboto"/>
              </a:rPr>
              <a:t>interface I1 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760" y="4605020"/>
            <a:ext cx="99949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1" sz="800">
                <a:solidFill>
                  <a:srgbClr val="000000"/>
                </a:solidFill>
                <a:latin typeface="Roboto"/>
              </a:rPr>
              <a:t> void display();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738370"/>
            <a:ext cx="6222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19" sz="800">
                <a:solidFill>
                  <a:srgbClr val="000000"/>
                </a:solidFill>
                <a:latin typeface="Roboto"/>
              </a:rPr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005070"/>
            <a:ext cx="149987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6" sz="800">
                <a:solidFill>
                  <a:srgbClr val="000000"/>
                </a:solidFill>
                <a:latin typeface="Roboto"/>
              </a:rPr>
              <a:t>class C1 implements I1 {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760" y="5138420"/>
            <a:ext cx="149860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7" sz="800">
                <a:solidFill>
                  <a:srgbClr val="000000"/>
                </a:solidFill>
                <a:latin typeface="Roboto"/>
              </a:rPr>
              <a:t> public void display() {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2680" y="5271770"/>
            <a:ext cx="274954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6" sz="800">
                <a:solidFill>
                  <a:srgbClr val="000000"/>
                </a:solidFill>
                <a:latin typeface="Roboto"/>
              </a:rPr>
              <a:t> System.out.println("I1 implemented by C1");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760" y="5405120"/>
            <a:ext cx="12445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55" sz="800">
                <a:solidFill>
                  <a:srgbClr val="000000"/>
                </a:solidFill>
                <a:latin typeface="Roboto"/>
              </a:rPr>
              <a:t> 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538470"/>
            <a:ext cx="6222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19" sz="800">
                <a:solidFill>
                  <a:srgbClr val="000000"/>
                </a:solidFill>
                <a:latin typeface="Roboto"/>
              </a:rPr>
              <a:t>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805170"/>
            <a:ext cx="118745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1" sz="800">
                <a:solidFill>
                  <a:srgbClr val="000000"/>
                </a:solidFill>
                <a:latin typeface="Roboto"/>
              </a:rPr>
              <a:t>public class Main {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760" y="5938520"/>
            <a:ext cx="256159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2" sz="800">
                <a:solidFill>
                  <a:srgbClr val="000000"/>
                </a:solidFill>
                <a:latin typeface="Roboto"/>
              </a:rPr>
              <a:t> public static void main(String[] args) {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2680" y="6071870"/>
            <a:ext cx="118745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1" sz="800">
                <a:solidFill>
                  <a:srgbClr val="000000"/>
                </a:solidFill>
                <a:latin typeface="Roboto"/>
              </a:rPr>
              <a:t> C1 obj = new C1();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2680" y="6205220"/>
            <a:ext cx="93725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5" sz="800">
                <a:solidFill>
                  <a:srgbClr val="000000"/>
                </a:solidFill>
                <a:latin typeface="Roboto"/>
              </a:rPr>
              <a:t> obj.display();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760" y="6338570"/>
            <a:ext cx="12445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55" sz="800">
                <a:solidFill>
                  <a:srgbClr val="000000"/>
                </a:solidFill>
                <a:latin typeface="Roboto"/>
              </a:rPr>
              <a:t> 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471920"/>
            <a:ext cx="6222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19" sz="800">
                <a:solidFill>
                  <a:srgbClr val="000000"/>
                </a:solidFill>
                <a:latin typeface="Roboto"/>
              </a:rPr>
              <a:t>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6765290"/>
            <a:ext cx="11341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1" b="1" sz="1200">
                <a:solidFill>
                  <a:srgbClr val="000000"/>
                </a:solidFill>
                <a:latin typeface="Roboto"/>
              </a:rPr>
              <a:t>Sample Output: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7024370"/>
            <a:ext cx="43688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0" sz="800">
                <a:solidFill>
                  <a:srgbClr val="000000"/>
                </a:solidFill>
                <a:latin typeface="Roboto"/>
              </a:rPr>
              <a:t>Output: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7157720"/>
            <a:ext cx="124968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5" sz="800">
                <a:solidFill>
                  <a:srgbClr val="000000"/>
                </a:solidFill>
                <a:latin typeface="Roboto"/>
              </a:rPr>
              <a:t>I1 implemented by C1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4200" y="626110"/>
            <a:ext cx="455295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5" b="1" sz="1500">
                <a:solidFill>
                  <a:srgbClr val="000000"/>
                </a:solidFill>
                <a:latin typeface="Roboto"/>
              </a:rPr>
              <a:t>8. I1 extends I2, I3 — Multiple Interface Inheritance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4200" y="1012190"/>
            <a:ext cx="13119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7" b="1" sz="1200">
                <a:solidFill>
                  <a:srgbClr val="000000"/>
                </a:solidFill>
                <a:latin typeface="Roboto"/>
              </a:rPr>
              <a:t>Algorithm / Steps: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1273810"/>
            <a:ext cx="6007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" sz="1050">
                <a:solidFill>
                  <a:srgbClr val="000000"/>
                </a:solidFill>
                <a:latin typeface="Roboto"/>
              </a:rPr>
              <a:t>Algorithm: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1540510"/>
            <a:ext cx="12230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000000"/>
                </a:solidFill>
                <a:latin typeface="Roboto"/>
              </a:rPr>
              <a:t>1. Start the program.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1807210"/>
            <a:ext cx="17564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050">
                <a:solidFill>
                  <a:srgbClr val="000000"/>
                </a:solidFill>
                <a:latin typeface="Roboto"/>
              </a:rPr>
              <a:t>2. Create interfaces I2 and I3.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2073910"/>
            <a:ext cx="220218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" sz="1050">
                <a:solidFill>
                  <a:srgbClr val="000000"/>
                </a:solidFill>
                <a:latin typeface="Roboto"/>
              </a:rPr>
              <a:t>3. Create I1 extending both I2 and I3.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2340610"/>
            <a:ext cx="21120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1050">
                <a:solidFill>
                  <a:srgbClr val="000000"/>
                </a:solidFill>
                <a:latin typeface="Roboto"/>
              </a:rPr>
              <a:t>4. Create class C1 implementing I1.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2607310"/>
            <a:ext cx="262382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50">
                <a:solidFill>
                  <a:srgbClr val="000000"/>
                </a:solidFill>
                <a:latin typeface="Roboto"/>
              </a:rPr>
              <a:t>5. Implement all inherited interface methods.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2874010"/>
            <a:ext cx="151892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" sz="1050">
                <a:solidFill>
                  <a:srgbClr val="000000"/>
                </a:solidFill>
                <a:latin typeface="Roboto"/>
              </a:rPr>
              <a:t>6. Create an object of C1.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3140710"/>
            <a:ext cx="147447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1050">
                <a:solidFill>
                  <a:srgbClr val="000000"/>
                </a:solidFill>
                <a:latin typeface="Roboto"/>
              </a:rPr>
              <a:t>7. Call all three methods.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3407410"/>
            <a:ext cx="180086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000000"/>
                </a:solidFill>
                <a:latin typeface="Roboto"/>
              </a:rPr>
              <a:t>8. Display the output and stop.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3755390"/>
            <a:ext cx="8128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1200">
                <a:solidFill>
                  <a:srgbClr val="000000"/>
                </a:solidFill>
                <a:latin typeface="Roboto"/>
              </a:rPr>
              <a:t>Java Code: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14470"/>
            <a:ext cx="87503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1" sz="800">
                <a:solidFill>
                  <a:srgbClr val="000000"/>
                </a:solidFill>
                <a:latin typeface="Roboto"/>
              </a:rPr>
              <a:t>interface I2 {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760" y="4147820"/>
            <a:ext cx="112395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9" sz="800">
                <a:solidFill>
                  <a:srgbClr val="000000"/>
                </a:solidFill>
                <a:latin typeface="Roboto"/>
              </a:rPr>
              <a:t> void displayI2();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81170"/>
            <a:ext cx="6222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19" sz="800">
                <a:solidFill>
                  <a:srgbClr val="000000"/>
                </a:solidFill>
                <a:latin typeface="Roboto"/>
              </a:rP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547870"/>
            <a:ext cx="87503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1" sz="800">
                <a:solidFill>
                  <a:srgbClr val="000000"/>
                </a:solidFill>
                <a:latin typeface="Roboto"/>
              </a:rPr>
              <a:t>interface I3 {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760" y="4681220"/>
            <a:ext cx="112395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9" sz="800">
                <a:solidFill>
                  <a:srgbClr val="000000"/>
                </a:solidFill>
                <a:latin typeface="Roboto"/>
              </a:rPr>
              <a:t> void displayI3();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14570"/>
            <a:ext cx="6222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19" sz="800">
                <a:solidFill>
                  <a:srgbClr val="000000"/>
                </a:solidFill>
                <a:latin typeface="Roboto"/>
              </a:rPr>
              <a:t>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081270"/>
            <a:ext cx="181228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8" sz="800">
                <a:solidFill>
                  <a:srgbClr val="000000"/>
                </a:solidFill>
                <a:latin typeface="Roboto"/>
              </a:rPr>
              <a:t>interface I1 extends I2, I3 {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760" y="5214620"/>
            <a:ext cx="112395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9" sz="800">
                <a:solidFill>
                  <a:srgbClr val="000000"/>
                </a:solidFill>
                <a:latin typeface="Roboto"/>
              </a:rPr>
              <a:t> void displayI1();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347970"/>
            <a:ext cx="6222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19" sz="800">
                <a:solidFill>
                  <a:srgbClr val="000000"/>
                </a:solidFill>
                <a:latin typeface="Roboto"/>
              </a:rPr>
              <a:t>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614670"/>
            <a:ext cx="149987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6" sz="800">
                <a:solidFill>
                  <a:srgbClr val="000000"/>
                </a:solidFill>
                <a:latin typeface="Roboto"/>
              </a:rPr>
              <a:t>class C1 implements I1 {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760" y="5748020"/>
            <a:ext cx="162433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7" sz="800">
                <a:solidFill>
                  <a:srgbClr val="000000"/>
                </a:solidFill>
                <a:latin typeface="Roboto"/>
              </a:rPr>
              <a:t> public void displayI1() {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2680" y="5881370"/>
            <a:ext cx="225044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9" sz="800">
                <a:solidFill>
                  <a:srgbClr val="000000"/>
                </a:solidFill>
                <a:latin typeface="Roboto"/>
              </a:rPr>
              <a:t> System.out.println("Interface I1");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760" y="6014720"/>
            <a:ext cx="12445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55" sz="800">
                <a:solidFill>
                  <a:srgbClr val="000000"/>
                </a:solidFill>
                <a:latin typeface="Roboto"/>
              </a:rPr>
              <a:t> 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760" y="6281420"/>
            <a:ext cx="162433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7" sz="800">
                <a:solidFill>
                  <a:srgbClr val="000000"/>
                </a:solidFill>
                <a:latin typeface="Roboto"/>
              </a:rPr>
              <a:t> public void displayI2() {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2680" y="6414770"/>
            <a:ext cx="225044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9" sz="800">
                <a:solidFill>
                  <a:srgbClr val="000000"/>
                </a:solidFill>
                <a:latin typeface="Roboto"/>
              </a:rPr>
              <a:t> System.out.println("Interface I2");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760" y="6548120"/>
            <a:ext cx="12445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55" sz="800">
                <a:solidFill>
                  <a:srgbClr val="000000"/>
                </a:solidFill>
                <a:latin typeface="Roboto"/>
              </a:rPr>
              <a:t> 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760" y="6814820"/>
            <a:ext cx="162433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7" sz="800">
                <a:solidFill>
                  <a:srgbClr val="000000"/>
                </a:solidFill>
                <a:latin typeface="Roboto"/>
              </a:rPr>
              <a:t> public void displayI3() {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2680" y="6948170"/>
            <a:ext cx="225044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9" sz="800">
                <a:solidFill>
                  <a:srgbClr val="000000"/>
                </a:solidFill>
                <a:latin typeface="Roboto"/>
              </a:rPr>
              <a:t> System.out.println("Interface I3");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760" y="7081520"/>
            <a:ext cx="12445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55" sz="800">
                <a:solidFill>
                  <a:srgbClr val="000000"/>
                </a:solidFill>
                <a:latin typeface="Roboto"/>
              </a:rPr>
              <a:t> 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7214870"/>
            <a:ext cx="6222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19" sz="800">
                <a:solidFill>
                  <a:srgbClr val="000000"/>
                </a:solidFill>
                <a:latin typeface="Roboto"/>
              </a:rPr>
              <a:t>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7481570"/>
            <a:ext cx="118745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1" sz="800">
                <a:solidFill>
                  <a:srgbClr val="000000"/>
                </a:solidFill>
                <a:latin typeface="Roboto"/>
              </a:rPr>
              <a:t>public class Main {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760" y="7614920"/>
            <a:ext cx="256159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2" sz="800">
                <a:solidFill>
                  <a:srgbClr val="000000"/>
                </a:solidFill>
                <a:latin typeface="Roboto"/>
              </a:rPr>
              <a:t> public static void main(String[] args) {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2680" y="7748270"/>
            <a:ext cx="118745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1" sz="800">
                <a:solidFill>
                  <a:srgbClr val="000000"/>
                </a:solidFill>
                <a:latin typeface="Roboto"/>
              </a:rPr>
              <a:t> C1 obj = new C1();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2680" y="7881620"/>
            <a:ext cx="106298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4" sz="800">
                <a:solidFill>
                  <a:srgbClr val="000000"/>
                </a:solidFill>
                <a:latin typeface="Roboto"/>
              </a:rPr>
              <a:t> obj.displayI2();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2680" y="8014970"/>
            <a:ext cx="106298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4" sz="800">
                <a:solidFill>
                  <a:srgbClr val="000000"/>
                </a:solidFill>
                <a:latin typeface="Roboto"/>
              </a:rPr>
              <a:t> obj.displayI3();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2680" y="8148320"/>
            <a:ext cx="106298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4" sz="800">
                <a:solidFill>
                  <a:srgbClr val="000000"/>
                </a:solidFill>
                <a:latin typeface="Roboto"/>
              </a:rPr>
              <a:t> obj.displayI1();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760" y="8281670"/>
            <a:ext cx="12445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55" sz="800">
                <a:solidFill>
                  <a:srgbClr val="000000"/>
                </a:solidFill>
                <a:latin typeface="Roboto"/>
              </a:rPr>
              <a:t> }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8415020"/>
            <a:ext cx="6222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19" sz="800">
                <a:solidFill>
                  <a:srgbClr val="000000"/>
                </a:solidFill>
                <a:latin typeface="Roboto"/>
              </a:rPr>
              <a:t>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8708390"/>
            <a:ext cx="11341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1" b="1" sz="1200">
                <a:solidFill>
                  <a:srgbClr val="000000"/>
                </a:solidFill>
                <a:latin typeface="Roboto"/>
              </a:rPr>
              <a:t>Sample Output: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8967470"/>
            <a:ext cx="43688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0" sz="800">
                <a:solidFill>
                  <a:srgbClr val="000000"/>
                </a:solidFill>
                <a:latin typeface="Roboto"/>
              </a:rPr>
              <a:t>Output: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9100820"/>
            <a:ext cx="74930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5" sz="800">
                <a:solidFill>
                  <a:srgbClr val="000000"/>
                </a:solidFill>
                <a:latin typeface="Roboto"/>
              </a:rPr>
              <a:t>Interface I2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9234170"/>
            <a:ext cx="74930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5" sz="800">
                <a:solidFill>
                  <a:srgbClr val="000000"/>
                </a:solidFill>
                <a:latin typeface="Roboto"/>
              </a:rPr>
              <a:t>Interface I3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9367520"/>
            <a:ext cx="74930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5" sz="800">
                <a:solidFill>
                  <a:srgbClr val="000000"/>
                </a:solidFill>
                <a:latin typeface="Roboto"/>
              </a:rPr>
              <a:t>Interface I1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4200" y="626110"/>
            <a:ext cx="3821429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1500">
                <a:solidFill>
                  <a:srgbClr val="000000"/>
                </a:solidFill>
                <a:latin typeface="Roboto"/>
              </a:rPr>
              <a:t>Summary of the 8 Assignment Statements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4200" y="956310"/>
            <a:ext cx="28384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2" b="1" sz="1050">
                <a:solidFill>
                  <a:srgbClr val="000000"/>
                </a:solidFill>
                <a:latin typeface="Roboto"/>
              </a:rPr>
              <a:t>1. C1 extends C2</a:t>
            </a:r>
            <a:r>
              <a:rPr spc="21" sz="1050">
                <a:solidFill>
                  <a:srgbClr val="000000"/>
                </a:solidFill>
                <a:latin typeface="Roboto"/>
              </a:rPr>
              <a:t> — Single inheritance — Valid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1223010"/>
            <a:ext cx="406146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5" b="1" sz="1050">
                <a:solidFill>
                  <a:srgbClr val="000000"/>
                </a:solidFill>
                <a:latin typeface="Roboto"/>
              </a:rPr>
              <a:t>2. C1 extends C2, C3</a:t>
            </a:r>
            <a:r>
              <a:rPr spc="8" sz="1050">
                <a:solidFill>
                  <a:srgbClr val="000000"/>
                </a:solidFill>
                <a:latin typeface="Roboto"/>
              </a:rPr>
              <a:t> — Multiple class inheritance — Invalid in 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1489710"/>
            <a:ext cx="355727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5" b="1" sz="1050">
                <a:solidFill>
                  <a:srgbClr val="000000"/>
                </a:solidFill>
                <a:latin typeface="Roboto"/>
              </a:rPr>
              <a:t>3. C1 implements I1</a:t>
            </a:r>
            <a:r>
              <a:rPr spc="11" sz="1050">
                <a:solidFill>
                  <a:srgbClr val="000000"/>
                </a:solidFill>
                <a:latin typeface="Roboto"/>
              </a:rPr>
              <a:t> — Class implements interface — Valid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1756410"/>
            <a:ext cx="32169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6" b="1" sz="1050">
                <a:solidFill>
                  <a:srgbClr val="000000"/>
                </a:solidFill>
                <a:latin typeface="Roboto"/>
              </a:rPr>
              <a:t>4. C1 implements I1, I2</a:t>
            </a:r>
            <a:r>
              <a:rPr spc="11" sz="1050">
                <a:solidFill>
                  <a:srgbClr val="000000"/>
                </a:solidFill>
                <a:latin typeface="Roboto"/>
              </a:rPr>
              <a:t> — Multiple interfaces — Valid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2023110"/>
            <a:ext cx="572516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9" b="1" sz="1050">
                <a:solidFill>
                  <a:srgbClr val="000000"/>
                </a:solidFill>
                <a:latin typeface="Roboto"/>
              </a:rPr>
              <a:t>5. C1 implements C2 extends I1</a:t>
            </a:r>
            <a:r>
              <a:rPr spc="17" sz="1050">
                <a:solidFill>
                  <a:srgbClr val="000000"/>
                </a:solidFill>
                <a:latin typeface="Roboto"/>
              </a:rPr>
              <a:t> — Class + interface — Given order invalid; use C1 extends C2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2213610"/>
            <a:ext cx="83058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" sz="1050">
                <a:solidFill>
                  <a:srgbClr val="000000"/>
                </a:solidFill>
                <a:latin typeface="Roboto"/>
              </a:rPr>
              <a:t>implements I1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2480310"/>
            <a:ext cx="286892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3" b="1" sz="1050">
                <a:solidFill>
                  <a:srgbClr val="000000"/>
                </a:solidFill>
                <a:latin typeface="Roboto"/>
              </a:rPr>
              <a:t>6. I1 extends I2</a:t>
            </a:r>
            <a:r>
              <a:rPr spc="15" sz="1050">
                <a:solidFill>
                  <a:srgbClr val="000000"/>
                </a:solidFill>
                <a:latin typeface="Roboto"/>
              </a:rPr>
              <a:t> — Interface inheritance — Valid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2747010"/>
            <a:ext cx="41948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5" b="1" sz="1050">
                <a:solidFill>
                  <a:srgbClr val="000000"/>
                </a:solidFill>
                <a:latin typeface="Roboto"/>
              </a:rPr>
              <a:t>7. I1 implements C1</a:t>
            </a:r>
            <a:r>
              <a:rPr spc="7" sz="1050">
                <a:solidFill>
                  <a:srgbClr val="000000"/>
                </a:solidFill>
                <a:latin typeface="Roboto"/>
              </a:rPr>
              <a:t> — Interface implementing class — Invalid in Java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3013710"/>
            <a:ext cx="354330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4" b="1" sz="1050">
                <a:solidFill>
                  <a:srgbClr val="000000"/>
                </a:solidFill>
                <a:latin typeface="Roboto"/>
              </a:rPr>
              <a:t>8. I1 extends I2, I3</a:t>
            </a:r>
            <a:r>
              <a:rPr spc="8" sz="1050">
                <a:solidFill>
                  <a:srgbClr val="000000"/>
                </a:solidFill>
                <a:latin typeface="Roboto"/>
              </a:rPr>
              <a:t> — Multiple interface inheritance — Valid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