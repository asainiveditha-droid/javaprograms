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7559999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9820" y="858519"/>
            <a:ext cx="536067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6" b="1" sz="1800">
                <a:solidFill>
                  <a:srgbClr val="000000"/>
                </a:solidFill>
                <a:latin typeface="Roboto"/>
              </a:rPr>
              <a:t>Bank Account Management System (Java – OOP)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99160" y="1355090"/>
            <a:ext cx="128524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9" b="1" sz="1400">
                <a:solidFill>
                  <a:srgbClr val="1A3C6E"/>
                </a:solidFill>
                <a:latin typeface="Roboto"/>
              </a:rPr>
              <a:t>Aim /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9160" y="16510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To design and implement a Java program that demonstrates the concepts of Object-Oriented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" y="18542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sz="1100">
                <a:solidFill>
                  <a:srgbClr val="000000"/>
                </a:solidFill>
                <a:latin typeface="Roboto"/>
              </a:rPr>
              <a:t>Programming (OOP) — namely classes, objects, inheritance, method overriding 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9160" y="20574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100">
                <a:solidFill>
                  <a:srgbClr val="000000"/>
                </a:solidFill>
                <a:latin typeface="Roboto"/>
              </a:rPr>
              <a:t>encapsulation — by creating a simple Bank Account Management System with a base class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" y="2260600"/>
            <a:ext cx="437896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7" b="1" sz="1100">
                <a:solidFill>
                  <a:srgbClr val="000000"/>
                </a:solidFill>
                <a:latin typeface="Roboto"/>
              </a:rPr>
              <a:t>Account</a:t>
            </a:r>
            <a:r>
              <a:rPr spc="4" sz="1100">
                <a:solidFill>
                  <a:srgbClr val="000000"/>
                </a:solidFill>
                <a:latin typeface="Roboto"/>
              </a:rPr>
              <a:t> and derived classes </a:t>
            </a:r>
            <a:r>
              <a:rPr spc="50" b="1" sz="1100">
                <a:solidFill>
                  <a:srgbClr val="000000"/>
                </a:solidFill>
                <a:latin typeface="Roboto"/>
              </a:rPr>
              <a:t>SavingsAccount</a:t>
            </a:r>
            <a:r>
              <a:rPr spc="15" sz="1100">
                <a:solidFill>
                  <a:srgbClr val="000000"/>
                </a:solidFill>
                <a:latin typeface="Roboto"/>
              </a:rPr>
              <a:t> and </a:t>
            </a:r>
            <a:r>
              <a:rPr spc="48" b="1" sz="1100">
                <a:solidFill>
                  <a:srgbClr val="000000"/>
                </a:solidFill>
                <a:latin typeface="Roboto"/>
              </a:rPr>
              <a:t>CurrentAccount</a:t>
            </a:r>
            <a:r>
              <a:rPr spc="19" sz="1100">
                <a:solidFill>
                  <a:srgbClr val="000000"/>
                </a:solidFill>
                <a:latin typeface="Robot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60" y="2650490"/>
            <a:ext cx="16205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b="1" sz="1400">
                <a:solidFill>
                  <a:srgbClr val="1A3C6E"/>
                </a:solidFill>
                <a:latin typeface="Roboto"/>
              </a:rPr>
              <a:t>Problem Statement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9160" y="2946400"/>
            <a:ext cx="5761990" cy="14096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5" sz="1100">
                <a:solidFill>
                  <a:srgbClr val="000000"/>
                </a:solidFill>
                <a:latin typeface="Roboto"/>
              </a:rPr>
              <a:t>Design a class </a:t>
            </a:r>
            <a:r>
              <a:rPr spc="47" b="1" sz="1100">
                <a:solidFill>
                  <a:srgbClr val="000000"/>
                </a:solidFill>
                <a:latin typeface="Roboto"/>
              </a:rPr>
              <a:t>Account</a:t>
            </a:r>
            <a:r>
              <a:rPr spc="36" sz="1100">
                <a:solidFill>
                  <a:srgbClr val="000000"/>
                </a:solidFill>
                <a:latin typeface="Roboto"/>
              </a:rPr>
              <a:t> containing the common attributes of a bank account (account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60" y="31496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8" sz="1100">
                <a:solidFill>
                  <a:srgbClr val="000000"/>
                </a:solidFill>
                <a:latin typeface="Roboto"/>
              </a:rPr>
              <a:t>number, account holder name, balance and account type) along with member functions 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60" y="33528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5" sz="1100">
                <a:solidFill>
                  <a:srgbClr val="000000"/>
                </a:solidFill>
                <a:latin typeface="Roboto"/>
              </a:rPr>
              <a:t>deposit money, withdraw money, transfer money to another account and display account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60" y="3556000"/>
            <a:ext cx="32448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details. From this base class, derive two subclasses: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60" y="3751579"/>
            <a:ext cx="5761990" cy="1612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1200">
                <a:solidFill>
                  <a:srgbClr val="000000"/>
                </a:solidFill>
                <a:latin typeface="Roboto"/>
              </a:rPr>
              <a:t>G</a:t>
            </a:r>
            <a:r>
              <a:rPr spc="85" b="1" sz="1100">
                <a:solidFill>
                  <a:srgbClr val="000000"/>
                </a:solidFill>
                <a:latin typeface="Roboto"/>
              </a:rPr>
              <a:t> SavingsAccount</a:t>
            </a:r>
            <a:r>
              <a:rPr spc="35" sz="1100">
                <a:solidFill>
                  <a:srgbClr val="000000"/>
                </a:solidFill>
                <a:latin typeface="Roboto"/>
              </a:rPr>
              <a:t> – inherits Account and adds an interest rate field with a method 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7760" y="3962400"/>
            <a:ext cx="26949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100">
                <a:solidFill>
                  <a:srgbClr val="000000"/>
                </a:solidFill>
                <a:latin typeface="Roboto"/>
              </a:rPr>
              <a:t>calculate and credit interest on the balance.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60" y="4157979"/>
            <a:ext cx="5761990" cy="1612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2" sz="1200">
                <a:solidFill>
                  <a:srgbClr val="000000"/>
                </a:solidFill>
                <a:latin typeface="Roboto"/>
              </a:rPr>
              <a:t>G</a:t>
            </a:r>
            <a:r>
              <a:rPr spc="83" b="1" sz="1100">
                <a:solidFill>
                  <a:srgbClr val="000000"/>
                </a:solidFill>
                <a:latin typeface="Roboto"/>
              </a:rPr>
              <a:t> CurrentAccount</a:t>
            </a:r>
            <a:r>
              <a:rPr spc="-8" sz="1100">
                <a:solidFill>
                  <a:srgbClr val="000000"/>
                </a:solidFill>
                <a:latin typeface="Roboto"/>
              </a:rPr>
              <a:t> – inherits Account and adds an overdraft limit field, allowing withdrawals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7760" y="4368800"/>
            <a:ext cx="286511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100">
                <a:solidFill>
                  <a:srgbClr val="000000"/>
                </a:solidFill>
                <a:latin typeface="Roboto"/>
              </a:rPr>
              <a:t>to exceed the balance up to the overdraft limit.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60" y="45720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Using these classes, create one SavingsAccount object and one CurrentAccount object in the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9160" y="4775200"/>
            <a:ext cx="5761990" cy="14097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b="1" sz="1100">
                <a:solidFill>
                  <a:srgbClr val="000000"/>
                </a:solidFill>
                <a:latin typeface="Roboto"/>
              </a:rPr>
              <a:t>main()</a:t>
            </a:r>
            <a:r>
              <a:rPr spc="8" sz="1100">
                <a:solidFill>
                  <a:srgbClr val="000000"/>
                </a:solidFill>
                <a:latin typeface="Roboto"/>
              </a:rPr>
              <a:t> method, perform a series of transactions (deposit, withdraw, interest calculation and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60" y="49784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" sz="1100">
                <a:solidFill>
                  <a:srgbClr val="000000"/>
                </a:solidFill>
                <a:latin typeface="Roboto"/>
              </a:rPr>
              <a:t>fund transfer between the two accounts), and display the account details before and after the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9160" y="5181600"/>
            <a:ext cx="79247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3" sz="1100">
                <a:solidFill>
                  <a:srgbClr val="000000"/>
                </a:solidFill>
                <a:latin typeface="Roboto"/>
              </a:rPr>
              <a:t>transactions.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160" y="5571490"/>
            <a:ext cx="32105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2" b="1" sz="1400">
                <a:solidFill>
                  <a:srgbClr val="1A3C6E"/>
                </a:solidFill>
                <a:latin typeface="Roboto"/>
              </a:rPr>
              <a:t>Steps to Perform the Task (Algorithm)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9160" y="5869940"/>
            <a:ext cx="85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7760" y="58674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9" sz="1100">
                <a:solidFill>
                  <a:srgbClr val="000000"/>
                </a:solidFill>
                <a:latin typeface="Roboto"/>
              </a:rPr>
              <a:t>Create a base class Account with instance variables: accountNumber (int),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7760" y="6070600"/>
            <a:ext cx="45339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accountHolderName (String), balance (double) and accountType (String).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9160" y="6276340"/>
            <a:ext cx="85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7760" y="62738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100">
                <a:solidFill>
                  <a:srgbClr val="000000"/>
                </a:solidFill>
                <a:latin typeface="Roboto"/>
              </a:rPr>
              <a:t>Write a parameterized constructor in Account to initialize these variables using the 'this'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60" y="6477000"/>
            <a:ext cx="5588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keyword.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9160" y="6682740"/>
            <a:ext cx="85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7760" y="66802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" sz="1100">
                <a:solidFill>
                  <a:srgbClr val="000000"/>
                </a:solidFill>
                <a:latin typeface="Roboto"/>
              </a:rPr>
              <a:t>Define a method deposit(double amount) that adds the amount to the balance and prints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7760" y="6883400"/>
            <a:ext cx="15214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9" sz="1100">
                <a:solidFill>
                  <a:srgbClr val="000000"/>
                </a:solidFill>
                <a:latin typeface="Roboto"/>
              </a:rPr>
              <a:t>a confirmation message.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9160" y="7089140"/>
            <a:ext cx="85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7760" y="70866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" sz="1100">
                <a:solidFill>
                  <a:srgbClr val="000000"/>
                </a:solidFill>
                <a:latin typeface="Roboto"/>
              </a:rPr>
              <a:t>Define a method withdraw(double amount) that checks if the balance is sufficient; if yes,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7760" y="7289800"/>
            <a:ext cx="530098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100">
                <a:solidFill>
                  <a:srgbClr val="000000"/>
                </a:solidFill>
                <a:latin typeface="Roboto"/>
              </a:rPr>
              <a:t>subtracts the amount and prints a confirmation, otherwise prints "Insufficient balance".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9160" y="7495540"/>
            <a:ext cx="85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7760" y="74930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100">
                <a:solidFill>
                  <a:srgbClr val="000000"/>
                </a:solidFill>
                <a:latin typeface="Roboto"/>
              </a:rPr>
              <a:t>Define a method transfer(Account receiver, double amount) that withdraws the amount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7760" y="76962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" sz="1100">
                <a:solidFill>
                  <a:srgbClr val="000000"/>
                </a:solidFill>
                <a:latin typeface="Roboto"/>
              </a:rPr>
              <a:t>from the current object's balance and adds it to the receiver account's balance, provided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7760" y="7899400"/>
            <a:ext cx="18478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6" sz="1100">
                <a:solidFill>
                  <a:srgbClr val="000000"/>
                </a:solidFill>
                <a:latin typeface="Roboto"/>
              </a:rPr>
              <a:t>sufficient balance is available.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9160" y="8105140"/>
            <a:ext cx="85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7760" y="81026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7" sz="1100">
                <a:solidFill>
                  <a:srgbClr val="000000"/>
                </a:solidFill>
                <a:latin typeface="Roboto"/>
              </a:rPr>
              <a:t>Define a method displayAccountDetails() that prints the account number, holder name,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7760" y="8305800"/>
            <a:ext cx="163067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account type and balance.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9160" y="8511540"/>
            <a:ext cx="85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7760" y="85090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" sz="1100">
                <a:solidFill>
                  <a:srgbClr val="000000"/>
                </a:solidFill>
                <a:latin typeface="Roboto"/>
              </a:rPr>
              <a:t>Create a subclass SavingsAccount that extends Account, adds an interestRate field, calls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7760" y="87122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41" sz="1100">
                <a:solidFill>
                  <a:srgbClr val="000000"/>
                </a:solidFill>
                <a:latin typeface="Roboto"/>
              </a:rPr>
              <a:t>the parent constructor using super(), and defines a calculateInterest() method that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7760" y="8915400"/>
            <a:ext cx="46202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100">
                <a:solidFill>
                  <a:srgbClr val="000000"/>
                </a:solidFill>
                <a:latin typeface="Roboto"/>
              </a:rPr>
              <a:t>computes interest on the balance and credits it using the deposit() method.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9160" y="9121140"/>
            <a:ext cx="85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7760" y="91186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4" sz="1100">
                <a:solidFill>
                  <a:srgbClr val="000000"/>
                </a:solidFill>
                <a:latin typeface="Roboto"/>
              </a:rPr>
              <a:t>Create a subclass CurrentAccount that extends Account, adds an overdraftLimit field,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7760" y="93218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100">
                <a:solidFill>
                  <a:srgbClr val="000000"/>
                </a:solidFill>
                <a:latin typeface="Roboto"/>
              </a:rPr>
              <a:t>calls the parent constructor using super(), and overrides withdraw() so that withdrawals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27760" y="9525000"/>
            <a:ext cx="2729229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3" sz="1100">
                <a:solidFill>
                  <a:srgbClr val="000000"/>
                </a:solidFill>
                <a:latin typeface="Roboto"/>
              </a:rPr>
              <a:t>are allowed up to (balance + overdraftLimit).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99160" y="840740"/>
            <a:ext cx="85090" cy="1524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5" sz="1200">
                <a:solidFill>
                  <a:srgbClr val="000000"/>
                </a:solidFill>
                <a:latin typeface="Roboto"/>
              </a:rPr>
              <a:t>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27760" y="8382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" sz="1100">
                <a:solidFill>
                  <a:srgbClr val="000000"/>
                </a:solidFill>
                <a:latin typeface="Roboto"/>
              </a:rPr>
              <a:t>In the main() method (written inside the Account class or a separate Main class), create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7760" y="1041400"/>
            <a:ext cx="50774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2" sz="1100">
                <a:solidFill>
                  <a:srgbClr val="000000"/>
                </a:solidFill>
                <a:latin typeface="Roboto"/>
              </a:rPr>
              <a:t>one object each of SavingsAccount and CurrentAccount with sample initial values.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9160" y="1244600"/>
            <a:ext cx="5761990" cy="154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1200">
                <a:solidFill>
                  <a:srgbClr val="000000"/>
                </a:solidFill>
                <a:latin typeface="Roboto"/>
              </a:rPr>
              <a:t>10</a:t>
            </a:r>
            <a:r>
              <a:rPr spc="54" sz="1100">
                <a:solidFill>
                  <a:srgbClr val="000000"/>
                </a:solidFill>
                <a:latin typeface="Roboto"/>
              </a:rPr>
              <a:t> Display the details of both accounts before performing any transaction ("BEFORE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7760" y="1447800"/>
            <a:ext cx="122936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8" sz="1100">
                <a:solidFill>
                  <a:srgbClr val="000000"/>
                </a:solidFill>
                <a:latin typeface="Roboto"/>
              </a:rPr>
              <a:t>TRANSACTIONS").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60" y="1651000"/>
            <a:ext cx="5761990" cy="15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1200">
                <a:solidFill>
                  <a:srgbClr val="000000"/>
                </a:solidFill>
                <a:latin typeface="Roboto"/>
              </a:rPr>
              <a:t>11</a:t>
            </a:r>
            <a:r>
              <a:rPr spc="16" sz="1100">
                <a:solidFill>
                  <a:srgbClr val="000000"/>
                </a:solidFill>
                <a:latin typeface="Roboto"/>
              </a:rPr>
              <a:t> Perform transactions in sequence: deposit into the savings account, withdraw from the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7760" y="1854200"/>
            <a:ext cx="55333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22" sz="1100">
                <a:solidFill>
                  <a:srgbClr val="000000"/>
                </a:solidFill>
                <a:latin typeface="Roboto"/>
              </a:rPr>
              <a:t>savings account, calculate interest on the savings account, withdraw from the 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7760" y="2057400"/>
            <a:ext cx="479044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account, and transfer money from the savings account to the current account.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60" y="2260600"/>
            <a:ext cx="5761990" cy="15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1200">
                <a:solidFill>
                  <a:srgbClr val="000000"/>
                </a:solidFill>
                <a:latin typeface="Roboto"/>
              </a:rPr>
              <a:t>12</a:t>
            </a:r>
            <a:r>
              <a:rPr spc="25" sz="1100">
                <a:solidFill>
                  <a:srgbClr val="000000"/>
                </a:solidFill>
                <a:latin typeface="Roboto"/>
              </a:rPr>
              <a:t> Display the final details of both accounts after all transactions are completed ("FINAL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7760" y="2463800"/>
            <a:ext cx="71755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35" sz="1100">
                <a:solidFill>
                  <a:srgbClr val="000000"/>
                </a:solidFill>
                <a:latin typeface="Roboto"/>
              </a:rPr>
              <a:t>DETAILS").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60" y="2667000"/>
            <a:ext cx="5609590" cy="1549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10" sz="1200">
                <a:solidFill>
                  <a:srgbClr val="000000"/>
                </a:solidFill>
                <a:latin typeface="Roboto"/>
              </a:rPr>
              <a:t>13</a:t>
            </a:r>
            <a:r>
              <a:rPr spc="0" sz="1100">
                <a:solidFill>
                  <a:srgbClr val="000000"/>
                </a:solidFill>
                <a:latin typeface="Roboto"/>
              </a:rPr>
              <a:t> Compile the program (javac Account.java) and run it (java Account) to verify the output.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60" y="3056890"/>
            <a:ext cx="126492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54" b="1" sz="1400">
                <a:solidFill>
                  <a:srgbClr val="1A3C6E"/>
                </a:solidFill>
                <a:latin typeface="Roboto"/>
              </a:rPr>
              <a:t>Sample 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60" y="33528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3" sz="1100">
                <a:solidFill>
                  <a:srgbClr val="000000"/>
                </a:solidFill>
                <a:latin typeface="Roboto"/>
              </a:rPr>
              <a:t>For a SavingsAccount(101, "Sai", 10000, 5% interest) and a CurrentAccount(102,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60" y="35560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0" sz="1100">
                <a:solidFill>
                  <a:srgbClr val="000000"/>
                </a:solidFill>
                <a:latin typeface="Roboto"/>
              </a:rPr>
              <a:t>"Niveditha", 5000, 2000 overdraft), with the transaction sequence deposit(2000),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60" y="37592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0" sz="1100">
                <a:solidFill>
                  <a:srgbClr val="000000"/>
                </a:solidFill>
                <a:latin typeface="Roboto"/>
              </a:rPr>
              <a:t>withdraw(1000), calculateInterest(), current account withdraw(6000) and transfer(2000) from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9160" y="3962400"/>
            <a:ext cx="361061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4" sz="1100">
                <a:solidFill>
                  <a:srgbClr val="000000"/>
                </a:solidFill>
                <a:latin typeface="Roboto"/>
              </a:rPr>
              <a:t>savings to current, the program produces output similar to: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56360" y="4237990"/>
            <a:ext cx="1960879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1" sz="850">
                <a:solidFill>
                  <a:srgbClr val="000000"/>
                </a:solidFill>
                <a:latin typeface="Roboto"/>
              </a:rPr>
              <a:t>----- BEFORE TRANSACTIONS -----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6360" y="4371340"/>
            <a:ext cx="120142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850">
                <a:solidFill>
                  <a:srgbClr val="000000"/>
                </a:solidFill>
                <a:latin typeface="Roboto"/>
              </a:rPr>
              <a:t>Account Number: 101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56360" y="4504690"/>
            <a:ext cx="120142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50">
                <a:solidFill>
                  <a:srgbClr val="000000"/>
                </a:solidFill>
                <a:latin typeface="Roboto"/>
              </a:rPr>
              <a:t>Account Holder: Sai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56360" y="4638040"/>
            <a:ext cx="132842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9" sz="850">
                <a:solidFill>
                  <a:srgbClr val="000000"/>
                </a:solidFill>
                <a:latin typeface="Roboto"/>
              </a:rPr>
              <a:t>Account Type: Savings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56360" y="4771390"/>
            <a:ext cx="10121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9" sz="850">
                <a:solidFill>
                  <a:srgbClr val="000000"/>
                </a:solidFill>
                <a:latin typeface="Roboto"/>
              </a:rPr>
              <a:t>Balance: 10000.0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56360" y="5038090"/>
            <a:ext cx="120142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850">
                <a:solidFill>
                  <a:srgbClr val="000000"/>
                </a:solidFill>
                <a:latin typeface="Roboto"/>
              </a:rPr>
              <a:t>Account Number: 102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56360" y="5171440"/>
            <a:ext cx="158115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50">
                <a:solidFill>
                  <a:srgbClr val="000000"/>
                </a:solidFill>
                <a:latin typeface="Roboto"/>
              </a:rPr>
              <a:t>Account Holder: Niveditha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6360" y="5304790"/>
            <a:ext cx="132842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7" sz="850">
                <a:solidFill>
                  <a:srgbClr val="000000"/>
                </a:solidFill>
                <a:latin typeface="Roboto"/>
              </a:rPr>
              <a:t>Account Type: Current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56360" y="5438140"/>
            <a:ext cx="9486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4" sz="850">
                <a:solidFill>
                  <a:srgbClr val="000000"/>
                </a:solidFill>
                <a:latin typeface="Roboto"/>
              </a:rPr>
              <a:t>Balance: 5000.0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56360" y="5704840"/>
            <a:ext cx="151765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22" sz="850">
                <a:solidFill>
                  <a:srgbClr val="000000"/>
                </a:solidFill>
                <a:latin typeface="Roboto"/>
              </a:rPr>
              <a:t>----- TRANSACTIONS -----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56360" y="5838190"/>
            <a:ext cx="10756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5" sz="850">
                <a:solidFill>
                  <a:srgbClr val="000000"/>
                </a:solidFill>
                <a:latin typeface="Roboto"/>
              </a:rPr>
              <a:t>Deposited: 2000.0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56360" y="5971540"/>
            <a:ext cx="10756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2" sz="850">
                <a:solidFill>
                  <a:srgbClr val="000000"/>
                </a:solidFill>
                <a:latin typeface="Roboto"/>
              </a:rPr>
              <a:t>Withdrawn: 1000.0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56360" y="6104890"/>
            <a:ext cx="151765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34" sz="850">
                <a:solidFill>
                  <a:srgbClr val="000000"/>
                </a:solidFill>
                <a:latin typeface="Roboto"/>
              </a:rPr>
              <a:t>Interest credited: 550.0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56360" y="6238240"/>
            <a:ext cx="107569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2" sz="850">
                <a:solidFill>
                  <a:srgbClr val="000000"/>
                </a:solidFill>
                <a:latin typeface="Roboto"/>
              </a:rPr>
              <a:t>Withdrawn: 6000.0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56360" y="6371590"/>
            <a:ext cx="1201420" cy="10541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50">
                <a:solidFill>
                  <a:srgbClr val="000000"/>
                </a:solidFill>
                <a:latin typeface="Roboto"/>
              </a:rPr>
              <a:t>Transferred: 2000.0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56360" y="6638290"/>
            <a:ext cx="158115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54" sz="850">
                <a:solidFill>
                  <a:srgbClr val="000000"/>
                </a:solidFill>
                <a:latin typeface="Roboto"/>
              </a:rPr>
              <a:t>----- FINAL DETAILS -----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56360" y="6771640"/>
            <a:ext cx="12014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850">
                <a:solidFill>
                  <a:srgbClr val="000000"/>
                </a:solidFill>
                <a:latin typeface="Roboto"/>
              </a:rPr>
              <a:t>Account Number: 101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56360" y="6904990"/>
            <a:ext cx="12014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5" sz="850">
                <a:solidFill>
                  <a:srgbClr val="000000"/>
                </a:solidFill>
                <a:latin typeface="Roboto"/>
              </a:rPr>
              <a:t>Account Holder: Sai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6360" y="7038340"/>
            <a:ext cx="13284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89" sz="850">
                <a:solidFill>
                  <a:srgbClr val="000000"/>
                </a:solidFill>
                <a:latin typeface="Roboto"/>
              </a:rPr>
              <a:t>Account Type: Savings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56360" y="7171690"/>
            <a:ext cx="94869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4" sz="850">
                <a:solidFill>
                  <a:srgbClr val="000000"/>
                </a:solidFill>
                <a:latin typeface="Roboto"/>
              </a:rPr>
              <a:t>Balance: 9550.0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56360" y="7438390"/>
            <a:ext cx="12014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4" sz="850">
                <a:solidFill>
                  <a:srgbClr val="000000"/>
                </a:solidFill>
                <a:latin typeface="Roboto"/>
              </a:rPr>
              <a:t>Account Number: 102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56360" y="7571740"/>
            <a:ext cx="158115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03" sz="850">
                <a:solidFill>
                  <a:srgbClr val="000000"/>
                </a:solidFill>
                <a:latin typeface="Roboto"/>
              </a:rPr>
              <a:t>Account Holder: Niveditha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56360" y="7705090"/>
            <a:ext cx="132842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7" sz="850">
                <a:solidFill>
                  <a:srgbClr val="000000"/>
                </a:solidFill>
                <a:latin typeface="Roboto"/>
              </a:rPr>
              <a:t>Account Type: Current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56360" y="7838440"/>
            <a:ext cx="948690" cy="10540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4" sz="850">
                <a:solidFill>
                  <a:srgbClr val="000000"/>
                </a:solidFill>
                <a:latin typeface="Roboto"/>
              </a:rPr>
              <a:t>Balance: 1000.0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9160" y="8340090"/>
            <a:ext cx="543560" cy="1778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63" b="1" sz="1400">
                <a:solidFill>
                  <a:srgbClr val="1A3C6E"/>
                </a:solidFill>
                <a:latin typeface="Roboto"/>
              </a:rPr>
              <a:t>Result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9160" y="86360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14" sz="1100">
                <a:solidFill>
                  <a:srgbClr val="000000"/>
                </a:solidFill>
                <a:latin typeface="Roboto"/>
              </a:rPr>
              <a:t>The Java program was successfully executed, demonstrating inheritance (SavingsAccount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9160" y="8839200"/>
            <a:ext cx="576199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9" sz="1100">
                <a:solidFill>
                  <a:srgbClr val="000000"/>
                </a:solidFill>
                <a:latin typeface="Roboto"/>
              </a:rPr>
              <a:t>and CurrentAccount extending Account), method overriding (withdraw() in CurrentAccount),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9160" y="9042400"/>
            <a:ext cx="5016500" cy="1397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r>
              <a:rPr spc="-7" sz="1100">
                <a:solidFill>
                  <a:srgbClr val="000000"/>
                </a:solidFill>
                <a:latin typeface="Roboto"/>
              </a:rPr>
              <a:t>and encapsulation of account data with controlled access through class methods.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