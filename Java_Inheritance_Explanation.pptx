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1219" y="635000"/>
            <a:ext cx="581787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4" b="1" sz="1800">
                <a:solidFill>
                  <a:srgbClr val="000000"/>
                </a:solidFill>
                <a:latin typeface="Roboto"/>
              </a:rPr>
              <a:t>Java Inheritance – Explanation, Algorithm, Flowchart,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47670" y="914400"/>
            <a:ext cx="16637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0" b="1" sz="1800">
                <a:solidFill>
                  <a:srgbClr val="000000"/>
                </a:solidFill>
                <a:latin typeface="Roboto"/>
              </a:rPr>
              <a:t>Steps &amp;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1351280"/>
            <a:ext cx="62344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100">
                <a:solidFill>
                  <a:srgbClr val="000000"/>
                </a:solidFill>
                <a:latin typeface="Roboto"/>
              </a:rPr>
              <a:t>Prepared from the uploaded program image. The visible program structure shows a parent class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567180"/>
            <a:ext cx="256159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100">
                <a:solidFill>
                  <a:srgbClr val="000000"/>
                </a:solidFill>
                <a:latin typeface="Roboto"/>
              </a:rPr>
              <a:t>child classes using the </a:t>
            </a:r>
            <a:r>
              <a:rPr spc="41" b="1" sz="1100">
                <a:solidFill>
                  <a:srgbClr val="000000"/>
                </a:solidFill>
                <a:latin typeface="Roboto"/>
              </a:rPr>
              <a:t>extends</a:t>
            </a:r>
            <a:r>
              <a:rPr spc="3" sz="1100">
                <a:solidFill>
                  <a:srgbClr val="000000"/>
                </a:solidFill>
                <a:latin typeface="Roboto"/>
              </a:rPr>
              <a:t> keyword.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1893570"/>
            <a:ext cx="5334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5" b="1" sz="1400">
                <a:solidFill>
                  <a:srgbClr val="000000"/>
                </a:solidFill>
                <a:latin typeface="Roboto"/>
              </a:rPr>
              <a:t>1. 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2214880"/>
            <a:ext cx="597915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To demonstrate inheritance in Java, where a child class can use the properties and methods of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2430780"/>
            <a:ext cx="252349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100">
                <a:solidFill>
                  <a:srgbClr val="000000"/>
                </a:solidFill>
                <a:latin typeface="Roboto"/>
              </a:rPr>
              <a:t>parent class using the </a:t>
            </a:r>
            <a:r>
              <a:rPr spc="40" b="1" sz="1100">
                <a:solidFill>
                  <a:srgbClr val="000000"/>
                </a:solidFill>
                <a:latin typeface="Roboto"/>
              </a:rPr>
              <a:t>extends</a:t>
            </a:r>
            <a:r>
              <a:rPr spc="4" sz="1100">
                <a:solidFill>
                  <a:srgbClr val="000000"/>
                </a:solidFill>
                <a:latin typeface="Roboto"/>
              </a:rPr>
              <a:t> keyword.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2757170"/>
            <a:ext cx="120523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0" b="1" sz="1400">
                <a:solidFill>
                  <a:srgbClr val="000000"/>
                </a:solidFill>
                <a:latin typeface="Roboto"/>
              </a:rPr>
              <a:t>2. 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3078480"/>
            <a:ext cx="6156959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7" b="1" sz="1100">
                <a:solidFill>
                  <a:srgbClr val="000000"/>
                </a:solidFill>
                <a:latin typeface="Roboto"/>
              </a:rPr>
              <a:t>Inheritance</a:t>
            </a:r>
            <a:r>
              <a:rPr spc="1" sz="1100">
                <a:solidFill>
                  <a:srgbClr val="000000"/>
                </a:solidFill>
                <a:latin typeface="Roboto"/>
              </a:rPr>
              <a:t> is an Object-Oriented Programming feature that allows one class to reuse the 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3294379"/>
            <a:ext cx="6226809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100">
                <a:solidFill>
                  <a:srgbClr val="000000"/>
                </a:solidFill>
                <a:latin typeface="Roboto"/>
              </a:rPr>
              <a:t>and methods of another class. The existing class is called the </a:t>
            </a:r>
            <a:r>
              <a:rPr spc="29" b="1" sz="1100">
                <a:solidFill>
                  <a:srgbClr val="000000"/>
                </a:solidFill>
                <a:latin typeface="Roboto"/>
              </a:rPr>
              <a:t>parent/super class</a:t>
            </a:r>
            <a:r>
              <a:rPr spc="2" sz="1100">
                <a:solidFill>
                  <a:srgbClr val="000000"/>
                </a:solidFill>
                <a:latin typeface="Roboto"/>
              </a:rPr>
              <a:t> and the new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3510279"/>
            <a:ext cx="1817370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100">
                <a:solidFill>
                  <a:srgbClr val="000000"/>
                </a:solidFill>
                <a:latin typeface="Roboto"/>
              </a:rPr>
              <a:t>is called the </a:t>
            </a:r>
            <a:r>
              <a:rPr spc="30" b="1" sz="1100">
                <a:solidFill>
                  <a:srgbClr val="000000"/>
                </a:solidFill>
                <a:latin typeface="Roboto"/>
              </a:rPr>
              <a:t>child/sub class</a:t>
            </a:r>
            <a:r>
              <a:rPr spc="19" sz="1100">
                <a:solidFill>
                  <a:srgbClr val="000000"/>
                </a:solidFill>
                <a:latin typeface="Roboto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3815079"/>
            <a:ext cx="56680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100">
                <a:solidFill>
                  <a:srgbClr val="000000"/>
                </a:solidFill>
                <a:latin typeface="Roboto"/>
              </a:rPr>
              <a:t>In this program structure, two child classes inherit from the same parent class. This is called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4030979"/>
            <a:ext cx="1607820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1100">
                <a:solidFill>
                  <a:srgbClr val="000000"/>
                </a:solidFill>
                <a:latin typeface="Roboto"/>
              </a:rPr>
              <a:t>hierarchical inheritance</a:t>
            </a:r>
            <a:r>
              <a:rPr spc="19" sz="1100">
                <a:solidFill>
                  <a:srgbClr val="000000"/>
                </a:solidFill>
                <a:latin typeface="Roboto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4357370"/>
            <a:ext cx="103758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6" b="1" sz="1400">
                <a:solidFill>
                  <a:srgbClr val="000000"/>
                </a:solidFill>
                <a:latin typeface="Roboto"/>
              </a:rPr>
              <a:t>3. Algorithm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4678680"/>
            <a:ext cx="12814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1. Start the program.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4983480"/>
            <a:ext cx="31521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100">
                <a:solidFill>
                  <a:srgbClr val="000000"/>
                </a:solidFill>
                <a:latin typeface="Roboto"/>
              </a:rPr>
              <a:t>2. Define the parent class and its common method.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5288280"/>
            <a:ext cx="2872740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1100">
                <a:solidFill>
                  <a:srgbClr val="000000"/>
                </a:solidFill>
                <a:latin typeface="Roboto"/>
              </a:rPr>
              <a:t>3. Define Child Class 1 using </a:t>
            </a:r>
            <a:r>
              <a:rPr spc="37" b="1" sz="1100">
                <a:solidFill>
                  <a:srgbClr val="000000"/>
                </a:solidFill>
                <a:latin typeface="Roboto"/>
              </a:rPr>
              <a:t>extends Parent</a:t>
            </a:r>
            <a:r>
              <a:rPr spc="19" sz="1100">
                <a:solidFill>
                  <a:srgbClr val="000000"/>
                </a:solidFill>
                <a:latin typeface="Roboto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5593080"/>
            <a:ext cx="2872740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1100">
                <a:solidFill>
                  <a:srgbClr val="000000"/>
                </a:solidFill>
                <a:latin typeface="Roboto"/>
              </a:rPr>
              <a:t>4. Define Child Class 2 using </a:t>
            </a:r>
            <a:r>
              <a:rPr spc="37" b="1" sz="1100">
                <a:solidFill>
                  <a:srgbClr val="000000"/>
                </a:solidFill>
                <a:latin typeface="Roboto"/>
              </a:rPr>
              <a:t>extends Parent</a:t>
            </a:r>
            <a:r>
              <a:rPr spc="19" sz="1100">
                <a:solidFill>
                  <a:srgbClr val="000000"/>
                </a:solidFill>
                <a:latin typeface="Roboto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5897880"/>
            <a:ext cx="177038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100">
                <a:solidFill>
                  <a:srgbClr val="000000"/>
                </a:solidFill>
                <a:latin typeface="Roboto"/>
              </a:rPr>
              <a:t>5. Define the main() method.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6202680"/>
            <a:ext cx="23609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100">
                <a:solidFill>
                  <a:srgbClr val="000000"/>
                </a:solidFill>
                <a:latin typeface="Roboto"/>
              </a:rPr>
              <a:t>6. Create objects for the child classes.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6507480"/>
            <a:ext cx="315976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100">
                <a:solidFill>
                  <a:srgbClr val="000000"/>
                </a:solidFill>
                <a:latin typeface="Roboto"/>
              </a:rPr>
              <a:t>7. Call the inherited method using the child objects.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6812280"/>
            <a:ext cx="13119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100">
                <a:solidFill>
                  <a:srgbClr val="000000"/>
                </a:solidFill>
                <a:latin typeface="Roboto"/>
              </a:rPr>
              <a:t>8. Display the output.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7117080"/>
            <a:ext cx="12738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100">
                <a:solidFill>
                  <a:srgbClr val="000000"/>
                </a:solidFill>
                <a:latin typeface="Roboto"/>
              </a:rPr>
              <a:t>9. Stop the program.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7443470"/>
            <a:ext cx="111633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6" b="1" sz="1400">
                <a:solidFill>
                  <a:srgbClr val="000000"/>
                </a:solidFill>
                <a:latin typeface="Roboto"/>
              </a:rPr>
              <a:t>4. Flow Chart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1684020" y="7734300"/>
          <a:ext cx="4191000" cy="2108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91000"/>
              </a:tblGrid>
              <a:tr h="317500">
                <a:tc>
                  <a:txBody>
                    <a:bodyPr/>
                    <a:lstStyle/>
                    <a:p>
                      <a:pPr>
                        <a:lnSpc>
                          <a:spcPts val="600"/>
                        </a:lnSpc>
                      </a:pPr>
                    </a:p>
                    <a:p>
                      <a:pPr marL="71120" algn="l">
                        <a:lnSpc>
                          <a:spcPts val="1100"/>
                        </a:lnSpc>
                      </a:pPr>
                      <a:r>
                        <a:rPr spc="49" sz="1100">
                          <a:solidFill>
                            <a:srgbClr val="000000"/>
                          </a:solidFill>
                          <a:latin typeface="Roboto"/>
                        </a:rPr>
                        <a:t>START</a:t>
                      </a:r>
                    </a:p>
                  </a:txBody>
                  <a:tcPr marL="0" marR="0" marT="0" marB="0" vert="horz">
                    <a:lnL w="444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444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444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ts val="640"/>
                        </a:lnSpc>
                      </a:pPr>
                    </a:p>
                    <a:p>
                      <a:pPr marL="71120" algn="l">
                        <a:lnSpc>
                          <a:spcPts val="1100"/>
                        </a:lnSpc>
                      </a:pPr>
                      <a:r>
                        <a:rPr spc="120" sz="1100">
                          <a:solidFill>
                            <a:srgbClr val="000000"/>
                          </a:solidFill>
                          <a:latin typeface="Noto Sans Symbols"/>
                        </a:rPr>
                        <a:t>↓</a:t>
                      </a:r>
                    </a:p>
                  </a:txBody>
                  <a:tcPr marL="0" marR="0" marT="0" marB="0" vert="horz">
                    <a:lnL w="444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444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marL="71120" algn="l">
                        <a:lnSpc>
                          <a:spcPts val="1100"/>
                        </a:lnSpc>
                      </a:pPr>
                      <a:r>
                        <a:rPr spc="8" sz="1100">
                          <a:solidFill>
                            <a:srgbClr val="000000"/>
                          </a:solidFill>
                          <a:latin typeface="Roboto"/>
                        </a:rPr>
                        <a:t>Define Parent Class</a:t>
                      </a:r>
                    </a:p>
                  </a:txBody>
                  <a:tcPr marL="0" marR="0" marT="0" marB="0" vert="horz">
                    <a:lnL w="444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444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ts val="640"/>
                        </a:lnSpc>
                      </a:pPr>
                    </a:p>
                    <a:p>
                      <a:pPr marL="71120" algn="l">
                        <a:lnSpc>
                          <a:spcPts val="1100"/>
                        </a:lnSpc>
                      </a:pPr>
                      <a:r>
                        <a:rPr spc="120" sz="1100">
                          <a:solidFill>
                            <a:srgbClr val="000000"/>
                          </a:solidFill>
                          <a:latin typeface="Noto Sans Symbols"/>
                        </a:rPr>
                        <a:t>↓</a:t>
                      </a:r>
                    </a:p>
                  </a:txBody>
                  <a:tcPr marL="0" marR="0" marT="0" marB="0" vert="horz">
                    <a:lnL w="444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444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lnSpc>
                          <a:spcPts val="30"/>
                        </a:lnSpc>
                      </a:pPr>
                    </a:p>
                    <a:p>
                      <a:pPr marL="71120" algn="l">
                        <a:lnSpc>
                          <a:spcPts val="1700"/>
                        </a:lnSpc>
                      </a:pPr>
                      <a:r>
                        <a:rPr spc="9" sz="1100">
                          <a:solidFill>
                            <a:srgbClr val="000000"/>
                          </a:solidFill>
                          <a:latin typeface="Roboto"/>
                        </a:rPr>
                        <a:t>Define Child Class 1</a:t>
                      </a:r>
                      <a:br/>
                      <a:r>
                        <a:rPr spc="3" sz="1100">
                          <a:solidFill>
                            <a:srgbClr val="000000"/>
                          </a:solidFill>
                          <a:latin typeface="Roboto"/>
                        </a:rPr>
                        <a:t>extends Parent</a:t>
                      </a:r>
                    </a:p>
                  </a:txBody>
                  <a:tcPr marL="0" marR="0" marT="0" marB="0" vert="horz">
                    <a:lnL w="444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444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640"/>
                        </a:lnSpc>
                      </a:pPr>
                    </a:p>
                    <a:p>
                      <a:pPr marL="71120" algn="l">
                        <a:lnSpc>
                          <a:spcPts val="1100"/>
                        </a:lnSpc>
                      </a:pPr>
                      <a:r>
                        <a:rPr spc="120" sz="1100">
                          <a:solidFill>
                            <a:srgbClr val="000000"/>
                          </a:solidFill>
                          <a:latin typeface="Noto Sans Symbols"/>
                        </a:rPr>
                        <a:t>↓</a:t>
                      </a:r>
                    </a:p>
                  </a:txBody>
                  <a:tcPr marL="0" marR="0" marT="0" marB="0" vert="horz">
                    <a:lnL w="444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444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684020" y="584200"/>
          <a:ext cx="4191000" cy="3060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91000"/>
              </a:tblGrid>
              <a:tr h="533400">
                <a:tc>
                  <a:txBody>
                    <a:bodyPr/>
                    <a:lstStyle/>
                    <a:p>
                      <a:pPr>
                        <a:lnSpc>
                          <a:spcPts val="30"/>
                        </a:lnSpc>
                      </a:pPr>
                    </a:p>
                    <a:p>
                      <a:pPr marL="71120" algn="l">
                        <a:lnSpc>
                          <a:spcPts val="1700"/>
                        </a:lnSpc>
                      </a:pPr>
                      <a:r>
                        <a:rPr spc="9" sz="1100">
                          <a:solidFill>
                            <a:srgbClr val="000000"/>
                          </a:solidFill>
                          <a:latin typeface="Roboto"/>
                        </a:rPr>
                        <a:t>Define Child Class 2</a:t>
                      </a:r>
                      <a:br/>
                      <a:r>
                        <a:rPr spc="3" sz="1100">
                          <a:solidFill>
                            <a:srgbClr val="000000"/>
                          </a:solidFill>
                          <a:latin typeface="Roboto"/>
                        </a:rPr>
                        <a:t>extends Parent</a:t>
                      </a:r>
                    </a:p>
                  </a:txBody>
                  <a:tcPr marL="0" marR="0" marT="0" marB="0" vert="horz">
                    <a:lnL w="444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444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marL="71120" algn="l">
                        <a:lnSpc>
                          <a:spcPts val="1100"/>
                        </a:lnSpc>
                      </a:pPr>
                      <a:r>
                        <a:rPr spc="120" sz="1100">
                          <a:solidFill>
                            <a:srgbClr val="000000"/>
                          </a:solidFill>
                          <a:latin typeface="Noto Sans Symbols"/>
                        </a:rPr>
                        <a:t>↓</a:t>
                      </a:r>
                    </a:p>
                  </a:txBody>
                  <a:tcPr marL="0" marR="0" marT="0" marB="0" vert="horz">
                    <a:lnL w="444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444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ts val="620"/>
                        </a:lnSpc>
                      </a:pPr>
                    </a:p>
                    <a:p>
                      <a:pPr marL="71120" algn="l">
                        <a:lnSpc>
                          <a:spcPts val="1100"/>
                        </a:lnSpc>
                      </a:pPr>
                      <a:r>
                        <a:rPr spc="9" sz="1100">
                          <a:solidFill>
                            <a:srgbClr val="000000"/>
                          </a:solidFill>
                          <a:latin typeface="Roboto"/>
                        </a:rPr>
                        <a:t>Create Child Objects</a:t>
                      </a:r>
                    </a:p>
                  </a:txBody>
                  <a:tcPr marL="0" marR="0" marT="0" marB="0" vert="horz">
                    <a:lnL w="444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444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marL="71120" algn="l">
                        <a:lnSpc>
                          <a:spcPts val="1100"/>
                        </a:lnSpc>
                      </a:pPr>
                      <a:r>
                        <a:rPr spc="120" sz="1100">
                          <a:solidFill>
                            <a:srgbClr val="000000"/>
                          </a:solidFill>
                          <a:latin typeface="Noto Sans Symbols"/>
                        </a:rPr>
                        <a:t>↓</a:t>
                      </a:r>
                    </a:p>
                  </a:txBody>
                  <a:tcPr marL="0" marR="0" marT="0" marB="0" vert="horz">
                    <a:lnL w="444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444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ts val="620"/>
                        </a:lnSpc>
                      </a:pPr>
                    </a:p>
                    <a:p>
                      <a:pPr marL="71120" algn="l">
                        <a:lnSpc>
                          <a:spcPts val="1100"/>
                        </a:lnSpc>
                      </a:pPr>
                      <a:r>
                        <a:rPr spc="0" sz="1100">
                          <a:solidFill>
                            <a:srgbClr val="000000"/>
                          </a:solidFill>
                          <a:latin typeface="Roboto"/>
                        </a:rPr>
                        <a:t>Call Inherited Method</a:t>
                      </a:r>
                    </a:p>
                  </a:txBody>
                  <a:tcPr marL="0" marR="0" marT="0" marB="0" vert="horz">
                    <a:lnL w="444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444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marL="71120" algn="l">
                        <a:lnSpc>
                          <a:spcPts val="1100"/>
                        </a:lnSpc>
                      </a:pPr>
                      <a:r>
                        <a:rPr spc="120" sz="1100">
                          <a:solidFill>
                            <a:srgbClr val="000000"/>
                          </a:solidFill>
                          <a:latin typeface="Noto Sans Symbols"/>
                        </a:rPr>
                        <a:t>↓</a:t>
                      </a:r>
                    </a:p>
                  </a:txBody>
                  <a:tcPr marL="0" marR="0" marT="0" marB="0" vert="horz">
                    <a:lnL w="444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444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ts val="620"/>
                        </a:lnSpc>
                      </a:pPr>
                    </a:p>
                    <a:p>
                      <a:pPr marL="71120" algn="l">
                        <a:lnSpc>
                          <a:spcPts val="1100"/>
                        </a:lnSpc>
                      </a:pPr>
                      <a:r>
                        <a:rPr spc="5" sz="1100">
                          <a:solidFill>
                            <a:srgbClr val="000000"/>
                          </a:solidFill>
                          <a:latin typeface="Roboto"/>
                        </a:rPr>
                        <a:t>Display Output</a:t>
                      </a:r>
                    </a:p>
                  </a:txBody>
                  <a:tcPr marL="0" marR="0" marT="0" marB="0" vert="horz">
                    <a:lnL w="444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444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marL="71120" algn="l">
                        <a:lnSpc>
                          <a:spcPts val="1100"/>
                        </a:lnSpc>
                      </a:pPr>
                      <a:r>
                        <a:rPr spc="120" sz="1100">
                          <a:solidFill>
                            <a:srgbClr val="000000"/>
                          </a:solidFill>
                          <a:latin typeface="Noto Sans Symbols"/>
                        </a:rPr>
                        <a:t>↓</a:t>
                      </a:r>
                    </a:p>
                  </a:txBody>
                  <a:tcPr marL="0" marR="0" marT="0" marB="0" vert="horz">
                    <a:lnL w="444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444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marL="71120" algn="l">
                        <a:lnSpc>
                          <a:spcPts val="1100"/>
                        </a:lnSpc>
                      </a:pPr>
                      <a:r>
                        <a:rPr spc="59" sz="1100">
                          <a:solidFill>
                            <a:srgbClr val="000000"/>
                          </a:solidFill>
                          <a:latin typeface="Roboto"/>
                        </a:rPr>
                        <a:t>STOP</a:t>
                      </a:r>
                    </a:p>
                  </a:txBody>
                  <a:tcPr marL="0" marR="0" marT="0" marB="0" vert="horz">
                    <a:lnL w="444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4444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4445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623570"/>
            <a:ext cx="205486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8" b="1" sz="1400">
                <a:solidFill>
                  <a:srgbClr val="000000"/>
                </a:solidFill>
                <a:latin typeface="Roboto"/>
              </a:rPr>
              <a:t>5. Step-by-Step 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7700" y="944880"/>
            <a:ext cx="3027679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b="1" sz="1100">
                <a:solidFill>
                  <a:srgbClr val="000000"/>
                </a:solidFill>
                <a:latin typeface="Roboto"/>
              </a:rPr>
              <a:t>Step 1:</a:t>
            </a:r>
            <a:r>
              <a:rPr spc="-6" sz="1100">
                <a:solidFill>
                  <a:srgbClr val="000000"/>
                </a:solidFill>
                <a:latin typeface="Roboto"/>
              </a:rPr>
              <a:t> Execution starts from the main() method.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1249680"/>
            <a:ext cx="333121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b="1" sz="1100">
                <a:solidFill>
                  <a:srgbClr val="000000"/>
                </a:solidFill>
                <a:latin typeface="Roboto"/>
              </a:rPr>
              <a:t>Step 2:</a:t>
            </a:r>
            <a:r>
              <a:rPr spc="-4" sz="1100">
                <a:solidFill>
                  <a:srgbClr val="000000"/>
                </a:solidFill>
                <a:latin typeface="Roboto"/>
              </a:rPr>
              <a:t> The parent class contains a common method.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554480"/>
            <a:ext cx="420878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b="1" sz="1100">
                <a:solidFill>
                  <a:srgbClr val="000000"/>
                </a:solidFill>
                <a:latin typeface="Roboto"/>
              </a:rPr>
              <a:t>Step 3:</a:t>
            </a:r>
            <a:r>
              <a:rPr spc="3" sz="1100">
                <a:solidFill>
                  <a:srgbClr val="000000"/>
                </a:solidFill>
                <a:latin typeface="Roboto"/>
              </a:rPr>
              <a:t> Child 1 extends the parent, so it can use the parent method.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1859280"/>
            <a:ext cx="444881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b="1" sz="1100">
                <a:solidFill>
                  <a:srgbClr val="000000"/>
                </a:solidFill>
                <a:latin typeface="Roboto"/>
              </a:rPr>
              <a:t>Step 4:</a:t>
            </a:r>
            <a:r>
              <a:rPr spc="3" sz="1100">
                <a:solidFill>
                  <a:srgbClr val="000000"/>
                </a:solidFill>
                <a:latin typeface="Roboto"/>
              </a:rPr>
              <a:t> Child 2 also extends the parent, so it can use the same method.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2164080"/>
            <a:ext cx="313690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b="1" sz="1100">
                <a:solidFill>
                  <a:srgbClr val="000000"/>
                </a:solidFill>
                <a:latin typeface="Roboto"/>
              </a:rPr>
              <a:t>Step 5:</a:t>
            </a:r>
            <a:r>
              <a:rPr spc="6" sz="1100">
                <a:solidFill>
                  <a:srgbClr val="000000"/>
                </a:solidFill>
                <a:latin typeface="Roboto"/>
              </a:rPr>
              <a:t> Objects of Child 1 and Child 2 are created.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2468880"/>
            <a:ext cx="371094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b="1" sz="1100">
                <a:solidFill>
                  <a:srgbClr val="000000"/>
                </a:solidFill>
                <a:latin typeface="Roboto"/>
              </a:rPr>
              <a:t>Step 6:</a:t>
            </a:r>
            <a:r>
              <a:rPr spc="-3" sz="1100">
                <a:solidFill>
                  <a:srgbClr val="000000"/>
                </a:solidFill>
                <a:latin typeface="Roboto"/>
              </a:rPr>
              <a:t> The inherited method is called through both objects.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2773680"/>
            <a:ext cx="397510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b="1" sz="1100">
                <a:solidFill>
                  <a:srgbClr val="000000"/>
                </a:solidFill>
                <a:latin typeface="Roboto"/>
              </a:rPr>
              <a:t>Step 7:</a:t>
            </a:r>
            <a:r>
              <a:rPr spc="2" sz="1100">
                <a:solidFill>
                  <a:srgbClr val="000000"/>
                </a:solidFill>
                <a:latin typeface="Roboto"/>
              </a:rPr>
              <a:t> The parent method executes and displays the message.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3078480"/>
            <a:ext cx="2034539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b="1" sz="1100">
                <a:solidFill>
                  <a:srgbClr val="000000"/>
                </a:solidFill>
                <a:latin typeface="Roboto"/>
              </a:rPr>
              <a:t>Step 8:</a:t>
            </a:r>
            <a:r>
              <a:rPr spc="-2" sz="1100">
                <a:solidFill>
                  <a:srgbClr val="000000"/>
                </a:solidFill>
                <a:latin typeface="Roboto"/>
              </a:rPr>
              <a:t> The program terminates.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3404870"/>
            <a:ext cx="254889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0" b="1" sz="1400">
                <a:solidFill>
                  <a:srgbClr val="000000"/>
                </a:solidFill>
                <a:latin typeface="Roboto"/>
              </a:rPr>
              <a:t>6. Example Program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3723640"/>
            <a:ext cx="90678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50">
                <a:solidFill>
                  <a:srgbClr val="000000"/>
                </a:solidFill>
                <a:latin typeface="Roboto"/>
              </a:rPr>
              <a:t>class Parent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3876040"/>
            <a:ext cx="84201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2" sz="850">
                <a:solidFill>
                  <a:srgbClr val="000000"/>
                </a:solidFill>
                <a:latin typeface="Roboto"/>
              </a:rPr>
              <a:t>void show() {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4028440"/>
            <a:ext cx="278511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9" sz="850">
                <a:solidFill>
                  <a:srgbClr val="000000"/>
                </a:solidFill>
                <a:latin typeface="Roboto"/>
              </a:rPr>
              <a:t>System.out.println("This is parent class");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4180840"/>
            <a:ext cx="6476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2" sz="85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4333240"/>
            <a:ext cx="6476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2" sz="85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" y="4638040"/>
            <a:ext cx="187833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1" sz="850">
                <a:solidFill>
                  <a:srgbClr val="000000"/>
                </a:solidFill>
                <a:latin typeface="Roboto"/>
              </a:rPr>
              <a:t>class Child1 extends Parent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" y="4790440"/>
            <a:ext cx="6476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2" sz="85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" y="5095240"/>
            <a:ext cx="187833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1" sz="850">
                <a:solidFill>
                  <a:srgbClr val="000000"/>
                </a:solidFill>
                <a:latin typeface="Roboto"/>
              </a:rPr>
              <a:t>class Child2 extends Parent 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" y="5247640"/>
            <a:ext cx="6476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2" sz="85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900" y="5552440"/>
            <a:ext cx="123063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7" sz="850">
                <a:solidFill>
                  <a:srgbClr val="000000"/>
                </a:solidFill>
                <a:latin typeface="Roboto"/>
              </a:rPr>
              <a:t>public class Main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" y="5704840"/>
            <a:ext cx="259080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6" sz="850">
                <a:solidFill>
                  <a:srgbClr val="000000"/>
                </a:solidFill>
                <a:latin typeface="Roboto"/>
              </a:rPr>
              <a:t>public static void main(String[] args) {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" y="5857240"/>
            <a:ext cx="174878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7" sz="850">
                <a:solidFill>
                  <a:srgbClr val="000000"/>
                </a:solidFill>
                <a:latin typeface="Roboto"/>
              </a:rPr>
              <a:t>Child1 obj1 = new Child1();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900" y="6009640"/>
            <a:ext cx="174878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7" sz="850">
                <a:solidFill>
                  <a:srgbClr val="000000"/>
                </a:solidFill>
                <a:latin typeface="Roboto"/>
              </a:rPr>
              <a:t>Child2 obj2 = new Child2();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900" y="6314440"/>
            <a:ext cx="77723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1" sz="850">
                <a:solidFill>
                  <a:srgbClr val="000000"/>
                </a:solidFill>
                <a:latin typeface="Roboto"/>
              </a:rPr>
              <a:t>obj1.show();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" y="6466840"/>
            <a:ext cx="77723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1" sz="850">
                <a:solidFill>
                  <a:srgbClr val="000000"/>
                </a:solidFill>
                <a:latin typeface="Roboto"/>
              </a:rPr>
              <a:t>obj2.show();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900" y="6619240"/>
            <a:ext cx="6476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2" sz="85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" y="6771640"/>
            <a:ext cx="6476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2" sz="85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7189470"/>
            <a:ext cx="77978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" b="1" sz="1400">
                <a:solidFill>
                  <a:srgbClr val="000000"/>
                </a:solidFill>
                <a:latin typeface="Roboto"/>
              </a:rPr>
              <a:t>7.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4900" y="7508240"/>
            <a:ext cx="129540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4" sz="850">
                <a:solidFill>
                  <a:srgbClr val="000000"/>
                </a:solidFill>
                <a:latin typeface="Roboto"/>
              </a:rPr>
              <a:t>This is parent class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900" y="7660640"/>
            <a:ext cx="129540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4" sz="850">
                <a:solidFill>
                  <a:srgbClr val="000000"/>
                </a:solidFill>
                <a:latin typeface="Roboto"/>
              </a:rPr>
              <a:t>This is parent class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7926070"/>
            <a:ext cx="74168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1400">
                <a:solidFill>
                  <a:srgbClr val="000000"/>
                </a:solidFill>
                <a:latin typeface="Roboto"/>
              </a:rPr>
              <a:t>8.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8247380"/>
            <a:ext cx="622680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100">
                <a:solidFill>
                  <a:srgbClr val="000000"/>
                </a:solidFill>
                <a:latin typeface="Roboto"/>
              </a:rPr>
              <a:t>The program successfully demonstrates hierarchical inheritance. The child classes reuse the method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8463280"/>
            <a:ext cx="368807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1100">
                <a:solidFill>
                  <a:srgbClr val="000000"/>
                </a:solidFill>
                <a:latin typeface="Roboto"/>
              </a:rPr>
              <a:t>of the parent class without defining the same method again.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8789670"/>
            <a:ext cx="202565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1" b="1" sz="1400">
                <a:solidFill>
                  <a:srgbClr val="000000"/>
                </a:solidFill>
                <a:latin typeface="Roboto"/>
              </a:rPr>
              <a:t>9. Important Viva 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9110980"/>
            <a:ext cx="2898140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3" sz="1100">
                <a:solidFill>
                  <a:srgbClr val="000000"/>
                </a:solidFill>
                <a:latin typeface="Roboto"/>
              </a:rPr>
              <a:t>• </a:t>
            </a:r>
            <a:r>
              <a:rPr spc="41" b="1" sz="1100">
                <a:solidFill>
                  <a:srgbClr val="000000"/>
                </a:solidFill>
                <a:latin typeface="Roboto"/>
              </a:rPr>
              <a:t>extends</a:t>
            </a:r>
            <a:r>
              <a:rPr spc="-2" sz="1100">
                <a:solidFill>
                  <a:srgbClr val="000000"/>
                </a:solidFill>
                <a:latin typeface="Roboto"/>
              </a:rPr>
              <a:t> is used for class inheritance in Java.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9326880"/>
            <a:ext cx="176148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100">
                <a:solidFill>
                  <a:srgbClr val="000000"/>
                </a:solidFill>
                <a:latin typeface="Roboto"/>
              </a:rPr>
              <a:t>• Parent class = super class.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" y="9542780"/>
            <a:ext cx="15430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100">
                <a:solidFill>
                  <a:srgbClr val="000000"/>
                </a:solidFill>
                <a:latin typeface="Roboto"/>
              </a:rPr>
              <a:t>• Child class = sub class.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" y="9758680"/>
            <a:ext cx="52197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1100">
                <a:solidFill>
                  <a:srgbClr val="000000"/>
                </a:solidFill>
                <a:latin typeface="Roboto"/>
              </a:rPr>
              <a:t>• Multiple child classes inheriting from one parent class form hierarchical inheritance.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